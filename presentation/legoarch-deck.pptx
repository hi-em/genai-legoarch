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holds while the recorded demo plays. These slides are the 'behind the sets' — the engineering, not a re-walk of the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matters. Computation you can hold — generative form that's provably buildable, not a render. The architect's client model, and the iterate loop.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machine in one view. A sentence flows through FLUX+LoRA and TRELLIS (generative, blue), then plain deterministic code legolizes and maps to a real catalog (yellow then red). Generative proposes; code proves and orders.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user actually does: name a building, forge a render (and tune it), carve it to 3D, watch it build course by course, then keep the boxed set — booklet, priced parts, all on a persistent shelf.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models. FLUX.2 Klein dreams the picture, with a LoRA we trained on 40 real LEGO Architecture sets. TRELLIS carves it into 3D. After that, no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ComfyUI workflows are really one connected node graph. Text or image both feed the shared FLUX.2 + legoarch LoRA core; its render feeds TRELLIS to 3D. Same look out of every door — the three .json files are just three entry points.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brick solve. A split-and-merge pass (Luo 2015) packs the anisotropic voxel grid into the largest legal, colour-uniform bricks — four passes: slopes, bricks, plates, tiles — staggering seams like real masonry. Thousands of 1x1s collapse into a few real footprints, same shape.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colour matches. We sample each voxel's colour off the textured mesh, rescale exposure to the render the user saw, convert to CIE Lab, snap to the nearest of 48 real LEGO colours by CIEDE2000, then clamp to a colour that exact part was really produced in. Continuous colour becomes a small, orderable palette.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all real. Actual BrickLink moulds — bricks, plates, a slope — snapped to 48 real colours and 1,598 validated combinations. Every piece is orderable, and one model scales from a 2k draft to a 22k flagship.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everything we tuned, this matters most. Only the LoRA strength changes across the grid. At zero, a normal building; at one, studs and seams appear. The LEGO-ness lives in the fine-tune.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3D model bakes in colour speckle, and each speck forces its own 1x1 brick. Blur it onto the render's true colour first → up to 46 percent fewer pieces on Sagrada, 19 to 46 percent across buildings, no loss of stability. Real montage on the left, the merge concept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is the user's call. The same Sagrada at detail 24, 32 and 48 gives 2.2k, 4.7k and 15k pieces — roughly quadratic. The default is 32; in-app you can dial 16 to 64. Same connected, recognizable set at every size.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part. The prompt names the museum AND the architect — and the model latched onto Gehry's signature swirling curves, not the specific Guggenheim. Those smooth curves can't survive a voxel grid, so Bilbao builds as a connected, 93%-supported, but illegible blob. Knowing the edge is part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one sentence, a whole set radiates out: the render, the 3D mesh, the legolized build, a boxed set, an instruction booklet, and a real parts list with a price.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From words to LEGO — every brick is real and orderable.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70543" y="1405889"/>
            <a:ext cx="7315017" cy="274320"/>
          </a:xfrm>
          <a:prstGeom prst="rect">
            <a:avLst/>
          </a:prstGeom>
          <a:noFill/>
        </p:spPr>
        <p:txBody>
          <a:bodyPr wrap="square" tIns="0" bIns="0" lIns="0" rIns="0" anchor="t">
            <a:spAutoFit/>
          </a:bodyPr>
          <a:lstStyle/>
          <a:p>
            <a:pPr algn="l">
              <a:lnSpc>
                <a:spcPct val="130000"/>
              </a:lnSpc>
            </a:pPr>
            <a:r>
              <a:rPr sz="1500" b="1">
                <a:solidFill>
                  <a:srgbClr val="F6C700"/>
                </a:solidFill>
                <a:latin typeface="DM Sans"/>
              </a:rPr>
              <a:t>BEHIND THE SETS</a:t>
            </a:r>
          </a:p>
        </p:txBody>
      </p:sp>
      <p:sp>
        <p:nvSpPr>
          <p:cNvPr id="4" name="TextBox 3"/>
          <p:cNvSpPr txBox="1"/>
          <p:nvPr/>
        </p:nvSpPr>
        <p:spPr>
          <a:xfrm>
            <a:off x="707118" y="4011929"/>
            <a:ext cx="6095847" cy="822959"/>
          </a:xfrm>
          <a:prstGeom prst="rect">
            <a:avLst/>
          </a:prstGeom>
          <a:noFill/>
        </p:spPr>
        <p:txBody>
          <a:bodyPr wrap="square" tIns="0" bIns="0" lIns="0" rIns="0" anchor="t">
            <a:spAutoFit/>
          </a:bodyPr>
          <a:lstStyle/>
          <a:p>
            <a:pPr algn="l">
              <a:lnSpc>
                <a:spcPct val="118000"/>
              </a:lnSpc>
            </a:pPr>
            <a:r>
              <a:rPr sz="2400" b="0">
                <a:solidFill>
                  <a:srgbClr val="E7D3A6"/>
                </a:solidFill>
                <a:latin typeface="DM Sans"/>
              </a:rPr>
              <a:t>Name a building → get a buildable LEGO set.</a:t>
            </a:r>
          </a:p>
        </p:txBody>
      </p:sp>
      <p:sp>
        <p:nvSpPr>
          <p:cNvPr id="5" name="TextBox 4"/>
          <p:cNvSpPr txBox="1"/>
          <p:nvPr/>
        </p:nvSpPr>
        <p:spPr>
          <a:xfrm>
            <a:off x="707118" y="5177790"/>
            <a:ext cx="5608179" cy="685800"/>
          </a:xfrm>
          <a:prstGeom prst="rect">
            <a:avLst/>
          </a:prstGeom>
          <a:noFill/>
        </p:spPr>
        <p:txBody>
          <a:bodyPr wrap="square" tIns="0" bIns="0" lIns="0" rIns="0" anchor="t">
            <a:spAutoFit/>
          </a:bodyPr>
          <a:lstStyle/>
          <a:p>
            <a:pPr algn="l">
              <a:lnSpc>
                <a:spcPct val="145000"/>
              </a:lnSpc>
            </a:pPr>
            <a:r>
              <a:rPr sz="1600" b="0">
                <a:solidFill>
                  <a:srgbClr val="B0A899"/>
                </a:solidFill>
                <a:latin typeface="DM Sans"/>
              </a:rPr>
              <a:t>The engineering under the demo → how a sentence becomes real, orderable bricks.</a:t>
            </a:r>
          </a:p>
        </p:txBody>
      </p:sp>
      <p:sp>
        <p:nvSpPr>
          <p:cNvPr id="6" name="TextBox 5"/>
          <p:cNvSpPr txBox="1"/>
          <p:nvPr/>
        </p:nvSpPr>
        <p:spPr>
          <a:xfrm>
            <a:off x="707118" y="6172200"/>
            <a:ext cx="6095847" cy="342900"/>
          </a:xfrm>
          <a:prstGeom prst="rect">
            <a:avLst/>
          </a:prstGeom>
          <a:noFill/>
        </p:spPr>
        <p:txBody>
          <a:bodyPr wrap="square" tIns="0" bIns="0" lIns="0" rIns="0" anchor="t">
            <a:spAutoFit/>
          </a:bodyPr>
          <a:lstStyle/>
          <a:p>
            <a:pPr algn="l">
              <a:lnSpc>
                <a:spcPct val="130000"/>
              </a:lnSpc>
            </a:pPr>
            <a:r>
              <a:rPr sz="1300" b="0">
                <a:solidFill>
                  <a:srgbClr val="B0A899"/>
                </a:solidFill>
                <a:latin typeface="DM Sans"/>
              </a:rPr>
              <a:t>Generative AI · Emilie El Chidiac &amp; Charles Abi Chahine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2.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E7D3A6"/>
                </a:solidFill>
                <a:latin typeface="DM Sans"/>
              </a:rPr>
              <a:t>WHY IT MATTERS</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Computation you can hold.</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Three reasons a generated set beats a render.</a:t>
            </a:r>
          </a:p>
        </p:txBody>
      </p:sp>
      <p:sp>
        <p:nvSpPr>
          <p:cNvPr id="6" name="TextBox 5"/>
          <p:cNvSpPr txBox="1"/>
          <p:nvPr/>
        </p:nvSpPr>
        <p:spPr>
          <a:xfrm>
            <a:off x="987527" y="3223260"/>
            <a:ext cx="2840664" cy="411479"/>
          </a:xfrm>
          <a:prstGeom prst="rect">
            <a:avLst/>
          </a:prstGeom>
          <a:noFill/>
        </p:spPr>
        <p:txBody>
          <a:bodyPr wrap="square" tIns="0" bIns="0" lIns="0" rIns="0" anchor="t">
            <a:spAutoFit/>
          </a:bodyPr>
          <a:lstStyle/>
          <a:p>
            <a:pPr algn="l">
              <a:lnSpc>
                <a:spcPct val="130000"/>
              </a:lnSpc>
            </a:pPr>
            <a:r>
              <a:rPr sz="1800" b="1">
                <a:solidFill>
                  <a:srgbClr val="34302A"/>
                </a:solidFill>
                <a:latin typeface="Nunito"/>
              </a:rPr>
              <a:t>Real, not rendered</a:t>
            </a:r>
          </a:p>
        </p:txBody>
      </p:sp>
      <p:sp>
        <p:nvSpPr>
          <p:cNvPr id="7" name="TextBox 6"/>
          <p:cNvSpPr txBox="1"/>
          <p:nvPr/>
        </p:nvSpPr>
        <p:spPr>
          <a:xfrm>
            <a:off x="987527" y="3703320"/>
            <a:ext cx="2816281" cy="685800"/>
          </a:xfrm>
          <a:prstGeom prst="rect">
            <a:avLst/>
          </a:prstGeom>
          <a:noFill/>
        </p:spPr>
        <p:txBody>
          <a:bodyPr wrap="square" tIns="0" bIns="0" lIns="0" rIns="0" anchor="t">
            <a:spAutoFit/>
          </a:bodyPr>
          <a:lstStyle/>
          <a:p>
            <a:pPr algn="l">
              <a:lnSpc>
                <a:spcPct val="140000"/>
              </a:lnSpc>
            </a:pPr>
            <a:r>
              <a:rPr sz="1400" b="0">
                <a:solidFill>
                  <a:srgbClr val="6F685C"/>
                </a:solidFill>
                <a:latin typeface="DM Sans"/>
              </a:rPr>
              <a:t>Generative form that snaps together in real bricks.</a:t>
            </a:r>
          </a:p>
        </p:txBody>
      </p:sp>
      <p:sp>
        <p:nvSpPr>
          <p:cNvPr id="8" name="TextBox 7"/>
          <p:cNvSpPr txBox="1"/>
          <p:nvPr/>
        </p:nvSpPr>
        <p:spPr>
          <a:xfrm>
            <a:off x="987527" y="4491990"/>
            <a:ext cx="2840664" cy="274320"/>
          </a:xfrm>
          <a:prstGeom prst="rect">
            <a:avLst/>
          </a:prstGeom>
          <a:noFill/>
        </p:spPr>
        <p:txBody>
          <a:bodyPr wrap="square" tIns="0" bIns="0" lIns="0" rIns="0" anchor="t">
            <a:spAutoFit/>
          </a:bodyPr>
          <a:lstStyle/>
          <a:p>
            <a:pPr algn="l">
              <a:lnSpc>
                <a:spcPct val="130000"/>
              </a:lnSpc>
            </a:pPr>
            <a:r>
              <a:rPr sz="1000" b="1">
                <a:solidFill>
                  <a:srgbClr val="1E5AA8"/>
                </a:solidFill>
                <a:latin typeface="DM Sans"/>
              </a:rPr>
              <a:t>FOR THE COMPUTATIONAL DESIGNER</a:t>
            </a:r>
          </a:p>
        </p:txBody>
      </p:sp>
      <p:sp>
        <p:nvSpPr>
          <p:cNvPr id="9" name="TextBox 8"/>
          <p:cNvSpPr txBox="1"/>
          <p:nvPr/>
        </p:nvSpPr>
        <p:spPr>
          <a:xfrm>
            <a:off x="4687706" y="3223260"/>
            <a:ext cx="2840664" cy="411479"/>
          </a:xfrm>
          <a:prstGeom prst="rect">
            <a:avLst/>
          </a:prstGeom>
          <a:noFill/>
        </p:spPr>
        <p:txBody>
          <a:bodyPr wrap="square" tIns="0" bIns="0" lIns="0" rIns="0" anchor="t">
            <a:spAutoFit/>
          </a:bodyPr>
          <a:lstStyle/>
          <a:p>
            <a:pPr algn="l">
              <a:lnSpc>
                <a:spcPct val="130000"/>
              </a:lnSpc>
            </a:pPr>
            <a:r>
              <a:rPr sz="1800" b="1">
                <a:solidFill>
                  <a:srgbClr val="34302A"/>
                </a:solidFill>
                <a:latin typeface="Nunito"/>
              </a:rPr>
              <a:t>Models, not mockups</a:t>
            </a:r>
          </a:p>
        </p:txBody>
      </p:sp>
      <p:sp>
        <p:nvSpPr>
          <p:cNvPr id="10" name="TextBox 9"/>
          <p:cNvSpPr txBox="1"/>
          <p:nvPr/>
        </p:nvSpPr>
        <p:spPr>
          <a:xfrm>
            <a:off x="4687706" y="3703320"/>
            <a:ext cx="2816281" cy="685800"/>
          </a:xfrm>
          <a:prstGeom prst="rect">
            <a:avLst/>
          </a:prstGeom>
          <a:noFill/>
        </p:spPr>
        <p:txBody>
          <a:bodyPr wrap="square" tIns="0" bIns="0" lIns="0" rIns="0" anchor="t">
            <a:spAutoFit/>
          </a:bodyPr>
          <a:lstStyle/>
          <a:p>
            <a:pPr algn="l">
              <a:lnSpc>
                <a:spcPct val="140000"/>
              </a:lnSpc>
            </a:pPr>
            <a:r>
              <a:rPr sz="1400" b="0">
                <a:solidFill>
                  <a:srgbClr val="6F685C"/>
                </a:solidFill>
                <a:latin typeface="DM Sans"/>
              </a:rPr>
              <a:t>Hand a client a set they keep → not foam they bin.</a:t>
            </a:r>
          </a:p>
        </p:txBody>
      </p:sp>
      <p:sp>
        <p:nvSpPr>
          <p:cNvPr id="11" name="TextBox 10"/>
          <p:cNvSpPr txBox="1"/>
          <p:nvPr/>
        </p:nvSpPr>
        <p:spPr>
          <a:xfrm>
            <a:off x="4687706" y="4491990"/>
            <a:ext cx="2840664" cy="274320"/>
          </a:xfrm>
          <a:prstGeom prst="rect">
            <a:avLst/>
          </a:prstGeom>
          <a:noFill/>
        </p:spPr>
        <p:txBody>
          <a:bodyPr wrap="square" tIns="0" bIns="0" lIns="0" rIns="0" anchor="t">
            <a:spAutoFit/>
          </a:bodyPr>
          <a:lstStyle/>
          <a:p>
            <a:pPr algn="l">
              <a:lnSpc>
                <a:spcPct val="130000"/>
              </a:lnSpc>
            </a:pPr>
            <a:r>
              <a:rPr sz="1000" b="1">
                <a:solidFill>
                  <a:srgbClr val="C91A09"/>
                </a:solidFill>
                <a:latin typeface="DM Sans"/>
              </a:rPr>
              <a:t>FOR THE PRACTICING ARCHITECT</a:t>
            </a:r>
          </a:p>
        </p:txBody>
      </p:sp>
      <p:sp>
        <p:nvSpPr>
          <p:cNvPr id="12" name="TextBox 11"/>
          <p:cNvSpPr txBox="1"/>
          <p:nvPr/>
        </p:nvSpPr>
        <p:spPr>
          <a:xfrm>
            <a:off x="8387886" y="3223260"/>
            <a:ext cx="2840664" cy="411479"/>
          </a:xfrm>
          <a:prstGeom prst="rect">
            <a:avLst/>
          </a:prstGeom>
          <a:noFill/>
        </p:spPr>
        <p:txBody>
          <a:bodyPr wrap="square" tIns="0" bIns="0" lIns="0" rIns="0" anchor="t">
            <a:spAutoFit/>
          </a:bodyPr>
          <a:lstStyle/>
          <a:p>
            <a:pPr algn="l">
              <a:lnSpc>
                <a:spcPct val="130000"/>
              </a:lnSpc>
            </a:pPr>
            <a:r>
              <a:rPr sz="1800" b="1">
                <a:solidFill>
                  <a:srgbClr val="34302A"/>
                </a:solidFill>
                <a:latin typeface="Nunito"/>
              </a:rPr>
              <a:t>Iterate in bricks</a:t>
            </a:r>
          </a:p>
        </p:txBody>
      </p:sp>
      <p:sp>
        <p:nvSpPr>
          <p:cNvPr id="13" name="TextBox 12"/>
          <p:cNvSpPr txBox="1"/>
          <p:nvPr/>
        </p:nvSpPr>
        <p:spPr>
          <a:xfrm>
            <a:off x="8387886" y="3703320"/>
            <a:ext cx="2816281" cy="685800"/>
          </a:xfrm>
          <a:prstGeom prst="rect">
            <a:avLst/>
          </a:prstGeom>
          <a:noFill/>
        </p:spPr>
        <p:txBody>
          <a:bodyPr wrap="square" tIns="0" bIns="0" lIns="0" rIns="0" anchor="t">
            <a:spAutoFit/>
          </a:bodyPr>
          <a:lstStyle/>
          <a:p>
            <a:pPr algn="l">
              <a:lnSpc>
                <a:spcPct val="140000"/>
              </a:lnSpc>
            </a:pPr>
            <a:r>
              <a:rPr sz="1400" b="0">
                <a:solidFill>
                  <a:srgbClr val="6F685C"/>
                </a:solidFill>
                <a:latin typeface="DM Sans"/>
              </a:rPr>
              <a:t>Change the design → reorder only what changed.</a:t>
            </a:r>
          </a:p>
        </p:txBody>
      </p:sp>
      <p:sp>
        <p:nvSpPr>
          <p:cNvPr id="14" name="TextBox 13"/>
          <p:cNvSpPr txBox="1"/>
          <p:nvPr/>
        </p:nvSpPr>
        <p:spPr>
          <a:xfrm>
            <a:off x="8387886" y="4491990"/>
            <a:ext cx="2840664" cy="274320"/>
          </a:xfrm>
          <a:prstGeom prst="rect">
            <a:avLst/>
          </a:prstGeom>
          <a:noFill/>
        </p:spPr>
        <p:txBody>
          <a:bodyPr wrap="square" tIns="0" bIns="0" lIns="0" rIns="0" anchor="t">
            <a:spAutoFit/>
          </a:bodyPr>
          <a:lstStyle/>
          <a:p>
            <a:pPr algn="l">
              <a:lnSpc>
                <a:spcPct val="130000"/>
              </a:lnSpc>
            </a:pPr>
            <a:r>
              <a:rPr sz="1000" b="1">
                <a:solidFill>
                  <a:srgbClr val="B8890A"/>
                </a:solidFill>
                <a:latin typeface="DM Sans"/>
              </a:rPr>
              <a:t>FOR THE STUDENT &amp; MAKER</a:t>
            </a:r>
          </a:p>
        </p:txBody>
      </p:sp>
      <p:sp>
        <p:nvSpPr>
          <p:cNvPr id="15" name="TextBox 14"/>
          <p:cNvSpPr txBox="1"/>
          <p:nvPr/>
        </p:nvSpPr>
        <p:spPr>
          <a:xfrm>
            <a:off x="670543" y="5417820"/>
            <a:ext cx="10850608" cy="342900"/>
          </a:xfrm>
          <a:prstGeom prst="rect">
            <a:avLst/>
          </a:prstGeom>
          <a:noFill/>
        </p:spPr>
        <p:txBody>
          <a:bodyPr wrap="square" tIns="0" bIns="0" lIns="0" rIns="0" anchor="t">
            <a:spAutoFit/>
          </a:bodyPr>
          <a:lstStyle/>
          <a:p>
            <a:pPr algn="l">
              <a:lnSpc>
                <a:spcPct val="130000"/>
              </a:lnSpc>
            </a:pPr>
            <a:r>
              <a:rPr sz="1500" b="0">
                <a:solidFill>
                  <a:srgbClr val="E7D3A6"/>
                </a:solidFill>
                <a:latin typeface="DM Sans"/>
              </a:rPr>
              <a:t>A form a machine dreamed up → that real bricks can actually build.</a:t>
            </a:r>
          </a:p>
        </p:txBody>
      </p:sp>
      <p:sp>
        <p:nvSpPr>
          <p:cNvPr id="16" name="TextBox 15"/>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E7D3A6"/>
                </a:solidFill>
                <a:latin typeface="DM Sans"/>
              </a:rPr>
              <a:t>THE SYSTEM</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One pipeline, end to end.</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Five moves turn a sentence into an orderable set.</a:t>
            </a:r>
          </a:p>
        </p:txBody>
      </p:sp>
      <p:sp>
        <p:nvSpPr>
          <p:cNvPr id="6" name="TextBox 5"/>
          <p:cNvSpPr txBox="1"/>
          <p:nvPr/>
        </p:nvSpPr>
        <p:spPr>
          <a:xfrm>
            <a:off x="670543" y="3991355"/>
            <a:ext cx="1731220" cy="274320"/>
          </a:xfrm>
          <a:prstGeom prst="rect">
            <a:avLst/>
          </a:prstGeom>
          <a:noFill/>
        </p:spPr>
        <p:txBody>
          <a:bodyPr wrap="square" tIns="0" bIns="0" lIns="0" rIns="0" anchor="t">
            <a:spAutoFit/>
          </a:bodyPr>
          <a:lstStyle/>
          <a:p>
            <a:pPr algn="ctr">
              <a:lnSpc>
                <a:spcPct val="130000"/>
              </a:lnSpc>
            </a:pPr>
            <a:r>
              <a:rPr sz="1600" b="1">
                <a:solidFill>
                  <a:srgbClr val="F3EFE6"/>
                </a:solidFill>
                <a:latin typeface="Nunito"/>
              </a:rPr>
              <a:t>Prompt</a:t>
            </a:r>
          </a:p>
        </p:txBody>
      </p:sp>
      <p:sp>
        <p:nvSpPr>
          <p:cNvPr id="7" name="TextBox 6"/>
          <p:cNvSpPr txBox="1"/>
          <p:nvPr/>
        </p:nvSpPr>
        <p:spPr>
          <a:xfrm>
            <a:off x="670543" y="4299966"/>
            <a:ext cx="1731220" cy="274320"/>
          </a:xfrm>
          <a:prstGeom prst="rect">
            <a:avLst/>
          </a:prstGeom>
          <a:noFill/>
        </p:spPr>
        <p:txBody>
          <a:bodyPr wrap="square" tIns="0" bIns="0" lIns="0" rIns="0" anchor="t">
            <a:spAutoFit/>
          </a:bodyPr>
          <a:lstStyle/>
          <a:p>
            <a:pPr algn="ctr">
              <a:lnSpc>
                <a:spcPct val="130000"/>
              </a:lnSpc>
            </a:pPr>
            <a:r>
              <a:rPr sz="1200" b="0">
                <a:solidFill>
                  <a:srgbClr val="B0A899"/>
                </a:solidFill>
                <a:latin typeface="DM Sans"/>
              </a:rPr>
              <a:t>a building name</a:t>
            </a:r>
          </a:p>
        </p:txBody>
      </p:sp>
      <p:sp>
        <p:nvSpPr>
          <p:cNvPr id="8" name="TextBox 7"/>
          <p:cNvSpPr txBox="1"/>
          <p:nvPr/>
        </p:nvSpPr>
        <p:spPr>
          <a:xfrm>
            <a:off x="2950390" y="3991355"/>
            <a:ext cx="1731220" cy="274320"/>
          </a:xfrm>
          <a:prstGeom prst="rect">
            <a:avLst/>
          </a:prstGeom>
          <a:noFill/>
        </p:spPr>
        <p:txBody>
          <a:bodyPr wrap="square" tIns="0" bIns="0" lIns="0" rIns="0" anchor="t">
            <a:spAutoFit/>
          </a:bodyPr>
          <a:lstStyle/>
          <a:p>
            <a:pPr algn="ctr">
              <a:lnSpc>
                <a:spcPct val="130000"/>
              </a:lnSpc>
            </a:pPr>
            <a:r>
              <a:rPr sz="1600" b="1">
                <a:solidFill>
                  <a:srgbClr val="F3EFE6"/>
                </a:solidFill>
                <a:latin typeface="Nunito"/>
              </a:rPr>
              <a:t>FLUX.2 + LoRA</a:t>
            </a:r>
          </a:p>
        </p:txBody>
      </p:sp>
      <p:sp>
        <p:nvSpPr>
          <p:cNvPr id="9" name="TextBox 8"/>
          <p:cNvSpPr txBox="1"/>
          <p:nvPr/>
        </p:nvSpPr>
        <p:spPr>
          <a:xfrm>
            <a:off x="2950390" y="4299966"/>
            <a:ext cx="1731220" cy="274320"/>
          </a:xfrm>
          <a:prstGeom prst="rect">
            <a:avLst/>
          </a:prstGeom>
          <a:noFill/>
        </p:spPr>
        <p:txBody>
          <a:bodyPr wrap="square" tIns="0" bIns="0" lIns="0" rIns="0" anchor="t">
            <a:spAutoFit/>
          </a:bodyPr>
          <a:lstStyle/>
          <a:p>
            <a:pPr algn="ctr">
              <a:lnSpc>
                <a:spcPct val="130000"/>
              </a:lnSpc>
            </a:pPr>
            <a:r>
              <a:rPr sz="1200" b="0">
                <a:solidFill>
                  <a:srgbClr val="B0A899"/>
                </a:solidFill>
                <a:latin typeface="DM Sans"/>
              </a:rPr>
              <a:t>→ a set-look render</a:t>
            </a:r>
          </a:p>
        </p:txBody>
      </p:sp>
      <p:sp>
        <p:nvSpPr>
          <p:cNvPr id="10" name="TextBox 9"/>
          <p:cNvSpPr txBox="1"/>
          <p:nvPr/>
        </p:nvSpPr>
        <p:spPr>
          <a:xfrm>
            <a:off x="5230237" y="3991355"/>
            <a:ext cx="1731220" cy="274320"/>
          </a:xfrm>
          <a:prstGeom prst="rect">
            <a:avLst/>
          </a:prstGeom>
          <a:noFill/>
        </p:spPr>
        <p:txBody>
          <a:bodyPr wrap="square" tIns="0" bIns="0" lIns="0" rIns="0" anchor="t">
            <a:spAutoFit/>
          </a:bodyPr>
          <a:lstStyle/>
          <a:p>
            <a:pPr algn="ctr">
              <a:lnSpc>
                <a:spcPct val="130000"/>
              </a:lnSpc>
            </a:pPr>
            <a:r>
              <a:rPr sz="1600" b="1">
                <a:solidFill>
                  <a:srgbClr val="F3EFE6"/>
                </a:solidFill>
                <a:latin typeface="Nunito"/>
              </a:rPr>
              <a:t>TRELLIS.2</a:t>
            </a:r>
          </a:p>
        </p:txBody>
      </p:sp>
      <p:sp>
        <p:nvSpPr>
          <p:cNvPr id="11" name="TextBox 10"/>
          <p:cNvSpPr txBox="1"/>
          <p:nvPr/>
        </p:nvSpPr>
        <p:spPr>
          <a:xfrm>
            <a:off x="5230237" y="4299966"/>
            <a:ext cx="1731220" cy="274320"/>
          </a:xfrm>
          <a:prstGeom prst="rect">
            <a:avLst/>
          </a:prstGeom>
          <a:noFill/>
        </p:spPr>
        <p:txBody>
          <a:bodyPr wrap="square" tIns="0" bIns="0" lIns="0" rIns="0" anchor="t">
            <a:spAutoFit/>
          </a:bodyPr>
          <a:lstStyle/>
          <a:p>
            <a:pPr algn="ctr">
              <a:lnSpc>
                <a:spcPct val="130000"/>
              </a:lnSpc>
            </a:pPr>
            <a:r>
              <a:rPr sz="1200" b="0">
                <a:solidFill>
                  <a:srgbClr val="B0A899"/>
                </a:solidFill>
                <a:latin typeface="DM Sans"/>
              </a:rPr>
              <a:t>→ a 3D mesh</a:t>
            </a:r>
          </a:p>
        </p:txBody>
      </p:sp>
      <p:sp>
        <p:nvSpPr>
          <p:cNvPr id="12" name="TextBox 11"/>
          <p:cNvSpPr txBox="1"/>
          <p:nvPr/>
        </p:nvSpPr>
        <p:spPr>
          <a:xfrm>
            <a:off x="7510084" y="3991355"/>
            <a:ext cx="1731220" cy="274320"/>
          </a:xfrm>
          <a:prstGeom prst="rect">
            <a:avLst/>
          </a:prstGeom>
          <a:noFill/>
        </p:spPr>
        <p:txBody>
          <a:bodyPr wrap="square" tIns="0" bIns="0" lIns="0" rIns="0" anchor="t">
            <a:spAutoFit/>
          </a:bodyPr>
          <a:lstStyle/>
          <a:p>
            <a:pPr algn="ctr">
              <a:lnSpc>
                <a:spcPct val="130000"/>
              </a:lnSpc>
            </a:pPr>
            <a:r>
              <a:rPr sz="1600" b="1">
                <a:solidFill>
                  <a:srgbClr val="F3EFE6"/>
                </a:solidFill>
                <a:latin typeface="Nunito"/>
              </a:rPr>
              <a:t>Legolize</a:t>
            </a:r>
          </a:p>
        </p:txBody>
      </p:sp>
      <p:sp>
        <p:nvSpPr>
          <p:cNvPr id="13" name="TextBox 12"/>
          <p:cNvSpPr txBox="1"/>
          <p:nvPr/>
        </p:nvSpPr>
        <p:spPr>
          <a:xfrm>
            <a:off x="7510084" y="4299966"/>
            <a:ext cx="1731220" cy="274320"/>
          </a:xfrm>
          <a:prstGeom prst="rect">
            <a:avLst/>
          </a:prstGeom>
          <a:noFill/>
        </p:spPr>
        <p:txBody>
          <a:bodyPr wrap="square" tIns="0" bIns="0" lIns="0" rIns="0" anchor="t">
            <a:spAutoFit/>
          </a:bodyPr>
          <a:lstStyle/>
          <a:p>
            <a:pPr algn="ctr">
              <a:lnSpc>
                <a:spcPct val="130000"/>
              </a:lnSpc>
            </a:pPr>
            <a:r>
              <a:rPr sz="1200" b="0">
                <a:solidFill>
                  <a:srgbClr val="B0A899"/>
                </a:solidFill>
                <a:latin typeface="DM Sans"/>
              </a:rPr>
              <a:t>→ real bricks</a:t>
            </a:r>
          </a:p>
        </p:txBody>
      </p:sp>
      <p:sp>
        <p:nvSpPr>
          <p:cNvPr id="14" name="TextBox 13"/>
          <p:cNvSpPr txBox="1"/>
          <p:nvPr/>
        </p:nvSpPr>
        <p:spPr>
          <a:xfrm>
            <a:off x="9789931" y="3991355"/>
            <a:ext cx="1731220" cy="274320"/>
          </a:xfrm>
          <a:prstGeom prst="rect">
            <a:avLst/>
          </a:prstGeom>
          <a:noFill/>
        </p:spPr>
        <p:txBody>
          <a:bodyPr wrap="square" tIns="0" bIns="0" lIns="0" rIns="0" anchor="t">
            <a:spAutoFit/>
          </a:bodyPr>
          <a:lstStyle/>
          <a:p>
            <a:pPr algn="ctr">
              <a:lnSpc>
                <a:spcPct val="130000"/>
              </a:lnSpc>
            </a:pPr>
            <a:r>
              <a:rPr sz="1600" b="1">
                <a:solidFill>
                  <a:srgbClr val="F3EFE6"/>
                </a:solidFill>
                <a:latin typeface="Nunito"/>
              </a:rPr>
              <a:t>Catalog</a:t>
            </a:r>
          </a:p>
        </p:txBody>
      </p:sp>
      <p:sp>
        <p:nvSpPr>
          <p:cNvPr id="15" name="TextBox 14"/>
          <p:cNvSpPr txBox="1"/>
          <p:nvPr/>
        </p:nvSpPr>
        <p:spPr>
          <a:xfrm>
            <a:off x="9789931" y="4299966"/>
            <a:ext cx="1731220" cy="274320"/>
          </a:xfrm>
          <a:prstGeom prst="rect">
            <a:avLst/>
          </a:prstGeom>
          <a:noFill/>
        </p:spPr>
        <p:txBody>
          <a:bodyPr wrap="square" tIns="0" bIns="0" lIns="0" rIns="0" anchor="t">
            <a:spAutoFit/>
          </a:bodyPr>
          <a:lstStyle/>
          <a:p>
            <a:pPr algn="ctr">
              <a:lnSpc>
                <a:spcPct val="130000"/>
              </a:lnSpc>
            </a:pPr>
            <a:r>
              <a:rPr sz="1200" b="0">
                <a:solidFill>
                  <a:srgbClr val="B0A899"/>
                </a:solidFill>
                <a:latin typeface="DM Sans"/>
              </a:rPr>
              <a:t>→ orderable parts</a:t>
            </a:r>
          </a:p>
        </p:txBody>
      </p:sp>
      <p:sp>
        <p:nvSpPr>
          <p:cNvPr id="16" name="TextBox 15"/>
          <p:cNvSpPr txBox="1"/>
          <p:nvPr/>
        </p:nvSpPr>
        <p:spPr>
          <a:xfrm>
            <a:off x="670543" y="4882896"/>
            <a:ext cx="6290914" cy="274320"/>
          </a:xfrm>
          <a:prstGeom prst="rect">
            <a:avLst/>
          </a:prstGeom>
          <a:noFill/>
        </p:spPr>
        <p:txBody>
          <a:bodyPr wrap="square" tIns="0" bIns="0" lIns="0" rIns="0" anchor="t">
            <a:spAutoFit/>
          </a:bodyPr>
          <a:lstStyle/>
          <a:p>
            <a:pPr algn="l">
              <a:lnSpc>
                <a:spcPct val="130000"/>
              </a:lnSpc>
            </a:pPr>
            <a:r>
              <a:rPr sz="1200" b="1">
                <a:solidFill>
                  <a:srgbClr val="1E5AA8"/>
                </a:solidFill>
                <a:latin typeface="DM Sans"/>
              </a:rPr>
              <a:t>GENERATIVE AI · proposes the form</a:t>
            </a:r>
          </a:p>
        </p:txBody>
      </p:sp>
      <p:sp>
        <p:nvSpPr>
          <p:cNvPr id="17" name="TextBox 16"/>
          <p:cNvSpPr txBox="1"/>
          <p:nvPr/>
        </p:nvSpPr>
        <p:spPr>
          <a:xfrm>
            <a:off x="7510084" y="4882896"/>
            <a:ext cx="4011067" cy="274320"/>
          </a:xfrm>
          <a:prstGeom prst="rect">
            <a:avLst/>
          </a:prstGeom>
          <a:noFill/>
        </p:spPr>
        <p:txBody>
          <a:bodyPr wrap="square" tIns="0" bIns="0" lIns="0" rIns="0" anchor="t">
            <a:spAutoFit/>
          </a:bodyPr>
          <a:lstStyle/>
          <a:p>
            <a:pPr algn="r">
              <a:lnSpc>
                <a:spcPct val="130000"/>
              </a:lnSpc>
            </a:pPr>
            <a:r>
              <a:rPr sz="1200" b="1">
                <a:solidFill>
                  <a:srgbClr val="C91A09"/>
                </a:solidFill>
                <a:latin typeface="DM Sans"/>
              </a:rPr>
              <a:t>DETERMINISTIC CODE · proves &amp; orders</a:t>
            </a:r>
          </a:p>
        </p:txBody>
      </p:sp>
      <p:sp>
        <p:nvSpPr>
          <p:cNvPr id="18" name="TextBox 17"/>
          <p:cNvSpPr txBox="1"/>
          <p:nvPr/>
        </p:nvSpPr>
        <p:spPr>
          <a:xfrm>
            <a:off x="670543" y="5486400"/>
            <a:ext cx="10850608" cy="342900"/>
          </a:xfrm>
          <a:prstGeom prst="rect">
            <a:avLst/>
          </a:prstGeom>
          <a:noFill/>
        </p:spPr>
        <p:txBody>
          <a:bodyPr wrap="square" tIns="0" bIns="0" lIns="0" rIns="0" anchor="t">
            <a:spAutoFit/>
          </a:bodyPr>
          <a:lstStyle/>
          <a:p>
            <a:pPr algn="l">
              <a:lnSpc>
                <a:spcPct val="130000"/>
              </a:lnSpc>
            </a:pPr>
            <a:r>
              <a:rPr sz="1500" b="0">
                <a:solidFill>
                  <a:srgbClr val="E7D3A6"/>
                </a:solidFill>
                <a:latin typeface="DM Sans"/>
              </a:rPr>
              <a:t>Anyone can generate a picture → the back half, the code that proves it builds, is the work.</a:t>
            </a:r>
          </a:p>
        </p:txBody>
      </p:sp>
      <p:sp>
        <p:nvSpPr>
          <p:cNvPr id="19" name="TextBox 18"/>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4.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1E5AA8"/>
                </a:solidFill>
                <a:latin typeface="DM Sans"/>
              </a:rPr>
              <a:t>THE EXPERIENCE</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What you actually do.</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One sentence in → a real set on your shelf. Five moves, every one yours to redo.</a:t>
            </a:r>
          </a:p>
        </p:txBody>
      </p:sp>
      <p:sp>
        <p:nvSpPr>
          <p:cNvPr id="6" name="TextBox 5"/>
          <p:cNvSpPr txBox="1"/>
          <p:nvPr/>
        </p:nvSpPr>
        <p:spPr>
          <a:xfrm>
            <a:off x="743693" y="3014091"/>
            <a:ext cx="438901" cy="205739"/>
          </a:xfrm>
          <a:prstGeom prst="rect">
            <a:avLst/>
          </a:prstGeom>
          <a:noFill/>
        </p:spPr>
        <p:txBody>
          <a:bodyPr wrap="square" tIns="0" bIns="0" lIns="0" rIns="0" anchor="t">
            <a:spAutoFit/>
          </a:bodyPr>
          <a:lstStyle/>
          <a:p>
            <a:pPr algn="ctr">
              <a:lnSpc>
                <a:spcPct val="130000"/>
              </a:lnSpc>
            </a:pPr>
            <a:r>
              <a:rPr sz="1200" b="1">
                <a:solidFill>
                  <a:srgbClr val="FFFFFF"/>
                </a:solidFill>
                <a:latin typeface="Nunito"/>
              </a:rPr>
              <a:t>1</a:t>
            </a:r>
          </a:p>
        </p:txBody>
      </p:sp>
      <p:sp>
        <p:nvSpPr>
          <p:cNvPr id="7" name="TextBox 6"/>
          <p:cNvSpPr txBox="1"/>
          <p:nvPr/>
        </p:nvSpPr>
        <p:spPr>
          <a:xfrm>
            <a:off x="1231361" y="3024378"/>
            <a:ext cx="1341086" cy="274320"/>
          </a:xfrm>
          <a:prstGeom prst="rect">
            <a:avLst/>
          </a:prstGeom>
          <a:noFill/>
        </p:spPr>
        <p:txBody>
          <a:bodyPr wrap="square" tIns="0" bIns="0" lIns="0" rIns="0" anchor="t">
            <a:spAutoFit/>
          </a:bodyPr>
          <a:lstStyle/>
          <a:p>
            <a:pPr algn="l">
              <a:lnSpc>
                <a:spcPct val="130000"/>
              </a:lnSpc>
            </a:pPr>
            <a:r>
              <a:rPr sz="1500" b="1">
                <a:solidFill>
                  <a:srgbClr val="34302A"/>
                </a:solidFill>
                <a:latin typeface="Nunito"/>
              </a:rPr>
              <a:t>Name it</a:t>
            </a:r>
          </a:p>
        </p:txBody>
      </p:sp>
      <p:sp>
        <p:nvSpPr>
          <p:cNvPr id="8" name="TextBox 7"/>
          <p:cNvSpPr txBox="1"/>
          <p:nvPr/>
        </p:nvSpPr>
        <p:spPr>
          <a:xfrm>
            <a:off x="816843" y="4169663"/>
            <a:ext cx="1658070" cy="342900"/>
          </a:xfrm>
          <a:prstGeom prst="rect">
            <a:avLst/>
          </a:prstGeom>
          <a:noFill/>
        </p:spPr>
        <p:txBody>
          <a:bodyPr wrap="square" tIns="0" bIns="0" lIns="0" rIns="0" anchor="t">
            <a:spAutoFit/>
          </a:bodyPr>
          <a:lstStyle/>
          <a:p>
            <a:pPr algn="ctr">
              <a:lnSpc>
                <a:spcPct val="125000"/>
              </a:lnSpc>
            </a:pPr>
            <a:r>
              <a:rPr sz="1150" b="0">
                <a:solidFill>
                  <a:srgbClr val="6F685C"/>
                </a:solidFill>
                <a:latin typeface="DM Sans"/>
              </a:rPr>
              <a:t>type any building</a:t>
            </a:r>
          </a:p>
        </p:txBody>
      </p:sp>
      <p:sp>
        <p:nvSpPr>
          <p:cNvPr id="9" name="TextBox 8"/>
          <p:cNvSpPr txBox="1"/>
          <p:nvPr/>
        </p:nvSpPr>
        <p:spPr>
          <a:xfrm>
            <a:off x="2968677" y="3014091"/>
            <a:ext cx="438901" cy="205739"/>
          </a:xfrm>
          <a:prstGeom prst="rect">
            <a:avLst/>
          </a:prstGeom>
          <a:noFill/>
        </p:spPr>
        <p:txBody>
          <a:bodyPr wrap="square" tIns="0" bIns="0" lIns="0" rIns="0" anchor="t">
            <a:spAutoFit/>
          </a:bodyPr>
          <a:lstStyle/>
          <a:p>
            <a:pPr algn="ctr">
              <a:lnSpc>
                <a:spcPct val="130000"/>
              </a:lnSpc>
            </a:pPr>
            <a:r>
              <a:rPr sz="1200" b="1">
                <a:solidFill>
                  <a:srgbClr val="FFFFFF"/>
                </a:solidFill>
                <a:latin typeface="Nunito"/>
              </a:rPr>
              <a:t>2</a:t>
            </a:r>
          </a:p>
        </p:txBody>
      </p:sp>
      <p:sp>
        <p:nvSpPr>
          <p:cNvPr id="10" name="TextBox 9"/>
          <p:cNvSpPr txBox="1"/>
          <p:nvPr/>
        </p:nvSpPr>
        <p:spPr>
          <a:xfrm>
            <a:off x="3456345" y="3024378"/>
            <a:ext cx="1341086" cy="274320"/>
          </a:xfrm>
          <a:prstGeom prst="rect">
            <a:avLst/>
          </a:prstGeom>
          <a:noFill/>
        </p:spPr>
        <p:txBody>
          <a:bodyPr wrap="square" tIns="0" bIns="0" lIns="0" rIns="0" anchor="t">
            <a:spAutoFit/>
          </a:bodyPr>
          <a:lstStyle/>
          <a:p>
            <a:pPr algn="l">
              <a:lnSpc>
                <a:spcPct val="130000"/>
              </a:lnSpc>
            </a:pPr>
            <a:r>
              <a:rPr sz="1500" b="1">
                <a:solidFill>
                  <a:srgbClr val="34302A"/>
                </a:solidFill>
                <a:latin typeface="Nunito"/>
              </a:rPr>
              <a:t>Forge it</a:t>
            </a:r>
          </a:p>
        </p:txBody>
      </p:sp>
      <p:sp>
        <p:nvSpPr>
          <p:cNvPr id="11" name="TextBox 10"/>
          <p:cNvSpPr txBox="1"/>
          <p:nvPr/>
        </p:nvSpPr>
        <p:spPr>
          <a:xfrm>
            <a:off x="3041827" y="4169663"/>
            <a:ext cx="1658070" cy="342900"/>
          </a:xfrm>
          <a:prstGeom prst="rect">
            <a:avLst/>
          </a:prstGeom>
          <a:noFill/>
        </p:spPr>
        <p:txBody>
          <a:bodyPr wrap="square" tIns="0" bIns="0" lIns="0" rIns="0" anchor="t">
            <a:spAutoFit/>
          </a:bodyPr>
          <a:lstStyle/>
          <a:p>
            <a:pPr algn="ctr">
              <a:lnSpc>
                <a:spcPct val="125000"/>
              </a:lnSpc>
            </a:pPr>
            <a:r>
              <a:rPr sz="1150" b="0">
                <a:solidFill>
                  <a:srgbClr val="6F685C"/>
                </a:solidFill>
                <a:latin typeface="DM Sans"/>
              </a:rPr>
              <a:t>FLUX render · tune it</a:t>
            </a:r>
          </a:p>
        </p:txBody>
      </p:sp>
      <p:sp>
        <p:nvSpPr>
          <p:cNvPr id="12" name="TextBox 11"/>
          <p:cNvSpPr txBox="1"/>
          <p:nvPr/>
        </p:nvSpPr>
        <p:spPr>
          <a:xfrm>
            <a:off x="5193662" y="3014091"/>
            <a:ext cx="438901" cy="205739"/>
          </a:xfrm>
          <a:prstGeom prst="rect">
            <a:avLst/>
          </a:prstGeom>
          <a:noFill/>
        </p:spPr>
        <p:txBody>
          <a:bodyPr wrap="square" tIns="0" bIns="0" lIns="0" rIns="0" anchor="t">
            <a:spAutoFit/>
          </a:bodyPr>
          <a:lstStyle/>
          <a:p>
            <a:pPr algn="ctr">
              <a:lnSpc>
                <a:spcPct val="130000"/>
              </a:lnSpc>
            </a:pPr>
            <a:r>
              <a:rPr sz="1200" b="1">
                <a:solidFill>
                  <a:srgbClr val="FFFFFF"/>
                </a:solidFill>
                <a:latin typeface="Nunito"/>
              </a:rPr>
              <a:t>3</a:t>
            </a:r>
          </a:p>
        </p:txBody>
      </p:sp>
      <p:sp>
        <p:nvSpPr>
          <p:cNvPr id="13" name="TextBox 12"/>
          <p:cNvSpPr txBox="1"/>
          <p:nvPr/>
        </p:nvSpPr>
        <p:spPr>
          <a:xfrm>
            <a:off x="5681329" y="3024378"/>
            <a:ext cx="1341086" cy="274320"/>
          </a:xfrm>
          <a:prstGeom prst="rect">
            <a:avLst/>
          </a:prstGeom>
          <a:noFill/>
        </p:spPr>
        <p:txBody>
          <a:bodyPr wrap="square" tIns="0" bIns="0" lIns="0" rIns="0" anchor="t">
            <a:spAutoFit/>
          </a:bodyPr>
          <a:lstStyle/>
          <a:p>
            <a:pPr algn="l">
              <a:lnSpc>
                <a:spcPct val="130000"/>
              </a:lnSpc>
            </a:pPr>
            <a:r>
              <a:rPr sz="1500" b="1">
                <a:solidFill>
                  <a:srgbClr val="34302A"/>
                </a:solidFill>
                <a:latin typeface="Nunito"/>
              </a:rPr>
              <a:t>Carve it</a:t>
            </a:r>
          </a:p>
        </p:txBody>
      </p:sp>
      <p:sp>
        <p:nvSpPr>
          <p:cNvPr id="14" name="TextBox 13"/>
          <p:cNvSpPr txBox="1"/>
          <p:nvPr/>
        </p:nvSpPr>
        <p:spPr>
          <a:xfrm>
            <a:off x="5266812" y="4169663"/>
            <a:ext cx="1658070" cy="342900"/>
          </a:xfrm>
          <a:prstGeom prst="rect">
            <a:avLst/>
          </a:prstGeom>
          <a:noFill/>
        </p:spPr>
        <p:txBody>
          <a:bodyPr wrap="square" tIns="0" bIns="0" lIns="0" rIns="0" anchor="t">
            <a:spAutoFit/>
          </a:bodyPr>
          <a:lstStyle/>
          <a:p>
            <a:pPr algn="ctr">
              <a:lnSpc>
                <a:spcPct val="125000"/>
              </a:lnSpc>
            </a:pPr>
            <a:r>
              <a:rPr sz="1150" b="0">
                <a:solidFill>
                  <a:srgbClr val="6F685C"/>
                </a:solidFill>
                <a:latin typeface="DM Sans"/>
              </a:rPr>
              <a:t>TRELLIS 3D mesh</a:t>
            </a:r>
          </a:p>
        </p:txBody>
      </p:sp>
      <p:sp>
        <p:nvSpPr>
          <p:cNvPr id="15" name="TextBox 14"/>
          <p:cNvSpPr txBox="1"/>
          <p:nvPr/>
        </p:nvSpPr>
        <p:spPr>
          <a:xfrm>
            <a:off x="7418646" y="3014091"/>
            <a:ext cx="438901" cy="205739"/>
          </a:xfrm>
          <a:prstGeom prst="rect">
            <a:avLst/>
          </a:prstGeom>
          <a:noFill/>
        </p:spPr>
        <p:txBody>
          <a:bodyPr wrap="square" tIns="0" bIns="0" lIns="0" rIns="0" anchor="t">
            <a:spAutoFit/>
          </a:bodyPr>
          <a:lstStyle/>
          <a:p>
            <a:pPr algn="ctr">
              <a:lnSpc>
                <a:spcPct val="130000"/>
              </a:lnSpc>
            </a:pPr>
            <a:r>
              <a:rPr sz="1200" b="1">
                <a:solidFill>
                  <a:srgbClr val="FFFFFF"/>
                </a:solidFill>
                <a:latin typeface="Nunito"/>
              </a:rPr>
              <a:t>4</a:t>
            </a:r>
          </a:p>
        </p:txBody>
      </p:sp>
      <p:sp>
        <p:nvSpPr>
          <p:cNvPr id="16" name="TextBox 15"/>
          <p:cNvSpPr txBox="1"/>
          <p:nvPr/>
        </p:nvSpPr>
        <p:spPr>
          <a:xfrm>
            <a:off x="7906314" y="3024378"/>
            <a:ext cx="1341086" cy="274320"/>
          </a:xfrm>
          <a:prstGeom prst="rect">
            <a:avLst/>
          </a:prstGeom>
          <a:noFill/>
        </p:spPr>
        <p:txBody>
          <a:bodyPr wrap="square" tIns="0" bIns="0" lIns="0" rIns="0" anchor="t">
            <a:spAutoFit/>
          </a:bodyPr>
          <a:lstStyle/>
          <a:p>
            <a:pPr algn="l">
              <a:lnSpc>
                <a:spcPct val="130000"/>
              </a:lnSpc>
            </a:pPr>
            <a:r>
              <a:rPr sz="1500" b="1">
                <a:solidFill>
                  <a:srgbClr val="34302A"/>
                </a:solidFill>
                <a:latin typeface="Nunito"/>
              </a:rPr>
              <a:t>Build it</a:t>
            </a:r>
          </a:p>
        </p:txBody>
      </p:sp>
      <p:sp>
        <p:nvSpPr>
          <p:cNvPr id="17" name="TextBox 16"/>
          <p:cNvSpPr txBox="1"/>
          <p:nvPr/>
        </p:nvSpPr>
        <p:spPr>
          <a:xfrm>
            <a:off x="7491796" y="4169663"/>
            <a:ext cx="1658070" cy="342900"/>
          </a:xfrm>
          <a:prstGeom prst="rect">
            <a:avLst/>
          </a:prstGeom>
          <a:noFill/>
        </p:spPr>
        <p:txBody>
          <a:bodyPr wrap="square" tIns="0" bIns="0" lIns="0" rIns="0" anchor="t">
            <a:spAutoFit/>
          </a:bodyPr>
          <a:lstStyle/>
          <a:p>
            <a:pPr algn="ctr">
              <a:lnSpc>
                <a:spcPct val="125000"/>
              </a:lnSpc>
            </a:pPr>
            <a:r>
              <a:rPr sz="1150" b="0">
                <a:solidFill>
                  <a:srgbClr val="6F685C"/>
                </a:solidFill>
                <a:latin typeface="DM Sans"/>
              </a:rPr>
              <a:t>course by course</a:t>
            </a:r>
          </a:p>
        </p:txBody>
      </p:sp>
      <p:sp>
        <p:nvSpPr>
          <p:cNvPr id="18" name="TextBox 17"/>
          <p:cNvSpPr txBox="1"/>
          <p:nvPr/>
        </p:nvSpPr>
        <p:spPr>
          <a:xfrm>
            <a:off x="9643630" y="3014091"/>
            <a:ext cx="438901" cy="205739"/>
          </a:xfrm>
          <a:prstGeom prst="rect">
            <a:avLst/>
          </a:prstGeom>
          <a:noFill/>
        </p:spPr>
        <p:txBody>
          <a:bodyPr wrap="square" tIns="0" bIns="0" lIns="0" rIns="0" anchor="t">
            <a:spAutoFit/>
          </a:bodyPr>
          <a:lstStyle/>
          <a:p>
            <a:pPr algn="ctr">
              <a:lnSpc>
                <a:spcPct val="130000"/>
              </a:lnSpc>
            </a:pPr>
            <a:r>
              <a:rPr sz="1200" b="1">
                <a:solidFill>
                  <a:srgbClr val="FFFFFF"/>
                </a:solidFill>
                <a:latin typeface="Nunito"/>
              </a:rPr>
              <a:t>5</a:t>
            </a:r>
          </a:p>
        </p:txBody>
      </p:sp>
      <p:sp>
        <p:nvSpPr>
          <p:cNvPr id="19" name="TextBox 18"/>
          <p:cNvSpPr txBox="1"/>
          <p:nvPr/>
        </p:nvSpPr>
        <p:spPr>
          <a:xfrm>
            <a:off x="10131298" y="3024378"/>
            <a:ext cx="1341086" cy="274320"/>
          </a:xfrm>
          <a:prstGeom prst="rect">
            <a:avLst/>
          </a:prstGeom>
          <a:noFill/>
        </p:spPr>
        <p:txBody>
          <a:bodyPr wrap="square" tIns="0" bIns="0" lIns="0" rIns="0" anchor="t">
            <a:spAutoFit/>
          </a:bodyPr>
          <a:lstStyle/>
          <a:p>
            <a:pPr algn="l">
              <a:lnSpc>
                <a:spcPct val="130000"/>
              </a:lnSpc>
            </a:pPr>
            <a:r>
              <a:rPr sz="1500" b="1">
                <a:solidFill>
                  <a:srgbClr val="34302A"/>
                </a:solidFill>
                <a:latin typeface="Nunito"/>
              </a:rPr>
              <a:t>Keep it</a:t>
            </a:r>
          </a:p>
        </p:txBody>
      </p:sp>
      <p:sp>
        <p:nvSpPr>
          <p:cNvPr id="20" name="TextBox 19"/>
          <p:cNvSpPr txBox="1"/>
          <p:nvPr/>
        </p:nvSpPr>
        <p:spPr>
          <a:xfrm>
            <a:off x="9716781" y="4169663"/>
            <a:ext cx="1658070" cy="342900"/>
          </a:xfrm>
          <a:prstGeom prst="rect">
            <a:avLst/>
          </a:prstGeom>
          <a:noFill/>
        </p:spPr>
        <p:txBody>
          <a:bodyPr wrap="square" tIns="0" bIns="0" lIns="0" rIns="0" anchor="t">
            <a:spAutoFit/>
          </a:bodyPr>
          <a:lstStyle/>
          <a:p>
            <a:pPr algn="ctr">
              <a:lnSpc>
                <a:spcPct val="125000"/>
              </a:lnSpc>
            </a:pPr>
            <a:r>
              <a:rPr sz="1150" b="0">
                <a:solidFill>
                  <a:srgbClr val="6F685C"/>
                </a:solidFill>
                <a:latin typeface="DM Sans"/>
              </a:rPr>
              <a:t>box · booklet · parts · shelf</a:t>
            </a:r>
          </a:p>
        </p:txBody>
      </p:sp>
      <p:sp>
        <p:nvSpPr>
          <p:cNvPr id="21" name="TextBox 20"/>
          <p:cNvSpPr txBox="1"/>
          <p:nvPr/>
        </p:nvSpPr>
        <p:spPr>
          <a:xfrm>
            <a:off x="670543" y="4972050"/>
            <a:ext cx="10850608" cy="342900"/>
          </a:xfrm>
          <a:prstGeom prst="rect">
            <a:avLst/>
          </a:prstGeom>
          <a:noFill/>
        </p:spPr>
        <p:txBody>
          <a:bodyPr wrap="square" tIns="0" bIns="0" lIns="0" rIns="0" anchor="t">
            <a:spAutoFit/>
          </a:bodyPr>
          <a:lstStyle/>
          <a:p>
            <a:pPr algn="l">
              <a:lnSpc>
                <a:spcPct val="130000"/>
              </a:lnSpc>
            </a:pPr>
            <a:r>
              <a:rPr sz="1500" b="0">
                <a:solidFill>
                  <a:srgbClr val="E7D3A6"/>
                </a:solidFill>
                <a:latin typeface="DM Sans"/>
              </a:rPr>
              <a:t>Every stop is editable → re-roll the render, re-tune the bricks, reopen any set from the shelf.</a:t>
            </a:r>
          </a:p>
        </p:txBody>
      </p:sp>
      <p:sp>
        <p:nvSpPr>
          <p:cNvPr id="22" name="TextBox 21"/>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5.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1E5AA8"/>
                </a:solidFill>
                <a:latin typeface="DM Sans"/>
              </a:rPr>
              <a:t>THE MODELS</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One dreams → one carves.</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Two AI models do all the imagining. Everything after is plain code.</a:t>
            </a:r>
          </a:p>
        </p:txBody>
      </p:sp>
      <p:sp>
        <p:nvSpPr>
          <p:cNvPr id="6" name="TextBox 5"/>
          <p:cNvSpPr txBox="1"/>
          <p:nvPr/>
        </p:nvSpPr>
        <p:spPr>
          <a:xfrm>
            <a:off x="999719" y="3257550"/>
            <a:ext cx="4632844" cy="342900"/>
          </a:xfrm>
          <a:prstGeom prst="rect">
            <a:avLst/>
          </a:prstGeom>
          <a:noFill/>
        </p:spPr>
        <p:txBody>
          <a:bodyPr wrap="square" tIns="0" bIns="0" lIns="0" rIns="0" anchor="t">
            <a:spAutoFit/>
          </a:bodyPr>
          <a:lstStyle/>
          <a:p>
            <a:pPr algn="l">
              <a:lnSpc>
                <a:spcPct val="130000"/>
              </a:lnSpc>
            </a:pPr>
            <a:r>
              <a:rPr sz="2200" b="1">
                <a:solidFill>
                  <a:srgbClr val="34302A"/>
                </a:solidFill>
                <a:latin typeface="Nunito"/>
              </a:rPr>
              <a:t>FLUX.2 Klein 4B</a:t>
            </a:r>
          </a:p>
        </p:txBody>
      </p:sp>
      <p:sp>
        <p:nvSpPr>
          <p:cNvPr id="7" name="TextBox 6"/>
          <p:cNvSpPr txBox="1"/>
          <p:nvPr/>
        </p:nvSpPr>
        <p:spPr>
          <a:xfrm>
            <a:off x="999719" y="3634740"/>
            <a:ext cx="4632844" cy="342900"/>
          </a:xfrm>
          <a:prstGeom prst="rect">
            <a:avLst/>
          </a:prstGeom>
          <a:noFill/>
        </p:spPr>
        <p:txBody>
          <a:bodyPr wrap="square" tIns="0" bIns="0" lIns="0" rIns="0" anchor="t">
            <a:spAutoFit/>
          </a:bodyPr>
          <a:lstStyle/>
          <a:p>
            <a:pPr algn="l">
              <a:lnSpc>
                <a:spcPct val="130000"/>
              </a:lnSpc>
            </a:pPr>
            <a:r>
              <a:rPr sz="1400" b="0">
                <a:solidFill>
                  <a:srgbClr val="6F685C"/>
                </a:solidFill>
                <a:latin typeface="DM Sans"/>
              </a:rPr>
              <a:t>base image model → dreams the picture</a:t>
            </a:r>
          </a:p>
        </p:txBody>
      </p:sp>
      <p:sp>
        <p:nvSpPr>
          <p:cNvPr id="8" name="TextBox 7"/>
          <p:cNvSpPr txBox="1"/>
          <p:nvPr/>
        </p:nvSpPr>
        <p:spPr>
          <a:xfrm>
            <a:off x="1731220" y="4101083"/>
            <a:ext cx="3779425" cy="274320"/>
          </a:xfrm>
          <a:prstGeom prst="rect">
            <a:avLst/>
          </a:prstGeom>
          <a:noFill/>
        </p:spPr>
        <p:txBody>
          <a:bodyPr wrap="square" tIns="0" bIns="0" lIns="0" rIns="0" anchor="t">
            <a:spAutoFit/>
          </a:bodyPr>
          <a:lstStyle/>
          <a:p>
            <a:pPr algn="l">
              <a:lnSpc>
                <a:spcPct val="130000"/>
              </a:lnSpc>
            </a:pPr>
            <a:r>
              <a:rPr sz="1300" b="1">
                <a:solidFill>
                  <a:srgbClr val="1E5AA8"/>
                </a:solidFill>
                <a:latin typeface="DM Sans"/>
              </a:rPr>
              <a:t>+ legoarch LoRA · 40 real Architecture sets</a:t>
            </a:r>
          </a:p>
        </p:txBody>
      </p:sp>
      <p:sp>
        <p:nvSpPr>
          <p:cNvPr id="9" name="TextBox 8"/>
          <p:cNvSpPr txBox="1"/>
          <p:nvPr/>
        </p:nvSpPr>
        <p:spPr>
          <a:xfrm>
            <a:off x="6973649" y="3257550"/>
            <a:ext cx="4389010" cy="342900"/>
          </a:xfrm>
          <a:prstGeom prst="rect">
            <a:avLst/>
          </a:prstGeom>
          <a:noFill/>
        </p:spPr>
        <p:txBody>
          <a:bodyPr wrap="square" tIns="0" bIns="0" lIns="0" rIns="0" anchor="t">
            <a:spAutoFit/>
          </a:bodyPr>
          <a:lstStyle/>
          <a:p>
            <a:pPr algn="l">
              <a:lnSpc>
                <a:spcPct val="130000"/>
              </a:lnSpc>
            </a:pPr>
            <a:r>
              <a:rPr sz="2200" b="1">
                <a:solidFill>
                  <a:srgbClr val="34302A"/>
                </a:solidFill>
                <a:latin typeface="Nunito"/>
              </a:rPr>
              <a:t>TRELLIS.2-4B</a:t>
            </a:r>
          </a:p>
        </p:txBody>
      </p:sp>
      <p:sp>
        <p:nvSpPr>
          <p:cNvPr id="10" name="TextBox 9"/>
          <p:cNvSpPr txBox="1"/>
          <p:nvPr/>
        </p:nvSpPr>
        <p:spPr>
          <a:xfrm>
            <a:off x="6973649" y="3634740"/>
            <a:ext cx="4389010" cy="342900"/>
          </a:xfrm>
          <a:prstGeom prst="rect">
            <a:avLst/>
          </a:prstGeom>
          <a:noFill/>
        </p:spPr>
        <p:txBody>
          <a:bodyPr wrap="square" tIns="0" bIns="0" lIns="0" rIns="0" anchor="t">
            <a:spAutoFit/>
          </a:bodyPr>
          <a:lstStyle/>
          <a:p>
            <a:pPr algn="l">
              <a:lnSpc>
                <a:spcPct val="130000"/>
              </a:lnSpc>
            </a:pPr>
            <a:r>
              <a:rPr sz="1400" b="0">
                <a:solidFill>
                  <a:srgbClr val="6F685C"/>
                </a:solidFill>
                <a:latin typeface="DM Sans"/>
              </a:rPr>
              <a:t>render → carves a textured 3D mesh</a:t>
            </a:r>
          </a:p>
        </p:txBody>
      </p:sp>
      <p:sp>
        <p:nvSpPr>
          <p:cNvPr id="11" name="TextBox 10"/>
          <p:cNvSpPr txBox="1"/>
          <p:nvPr/>
        </p:nvSpPr>
        <p:spPr>
          <a:xfrm>
            <a:off x="7705151" y="4101083"/>
            <a:ext cx="3413674" cy="274320"/>
          </a:xfrm>
          <a:prstGeom prst="rect">
            <a:avLst/>
          </a:prstGeom>
          <a:noFill/>
        </p:spPr>
        <p:txBody>
          <a:bodyPr wrap="square" tIns="0" bIns="0" lIns="0" rIns="0" anchor="t">
            <a:spAutoFit/>
          </a:bodyPr>
          <a:lstStyle/>
          <a:p>
            <a:pPr algn="l">
              <a:lnSpc>
                <a:spcPct val="130000"/>
              </a:lnSpc>
            </a:pPr>
            <a:r>
              <a:rPr sz="1300" b="1">
                <a:solidFill>
                  <a:srgbClr val="1E5AA8"/>
                </a:solidFill>
                <a:latin typeface="DM Sans"/>
              </a:rPr>
              <a:t>invents the faces the photo can't see</a:t>
            </a:r>
          </a:p>
        </p:txBody>
      </p:sp>
      <p:sp>
        <p:nvSpPr>
          <p:cNvPr id="12" name="TextBox 11"/>
          <p:cNvSpPr txBox="1"/>
          <p:nvPr/>
        </p:nvSpPr>
        <p:spPr>
          <a:xfrm>
            <a:off x="670543" y="4834890"/>
            <a:ext cx="10850608" cy="274320"/>
          </a:xfrm>
          <a:prstGeom prst="rect">
            <a:avLst/>
          </a:prstGeom>
          <a:noFill/>
        </p:spPr>
        <p:txBody>
          <a:bodyPr wrap="square" tIns="0" bIns="0" lIns="0" rIns="0" anchor="t">
            <a:spAutoFit/>
          </a:bodyPr>
          <a:lstStyle/>
          <a:p>
            <a:pPr algn="l">
              <a:lnSpc>
                <a:spcPct val="130000"/>
              </a:lnSpc>
            </a:pPr>
            <a:r>
              <a:rPr sz="1300" b="0">
                <a:solidFill>
                  <a:srgbClr val="B0A899"/>
                </a:solidFill>
                <a:latin typeface="DM Sans"/>
              </a:rPr>
              <a:t>qwen3-4b encoder · flux2-vae · euler · 1024×1024</a:t>
            </a:r>
          </a:p>
        </p:txBody>
      </p:sp>
      <p:sp>
        <p:nvSpPr>
          <p:cNvPr id="13" name="TextBox 12"/>
          <p:cNvSpPr txBox="1"/>
          <p:nvPr/>
        </p:nvSpPr>
        <p:spPr>
          <a:xfrm>
            <a:off x="670543" y="5109210"/>
            <a:ext cx="10850608" cy="274320"/>
          </a:xfrm>
          <a:prstGeom prst="rect">
            <a:avLst/>
          </a:prstGeom>
          <a:noFill/>
        </p:spPr>
        <p:txBody>
          <a:bodyPr wrap="square" tIns="0" bIns="0" lIns="0" rIns="0" anchor="t">
            <a:spAutoFit/>
          </a:bodyPr>
          <a:lstStyle/>
          <a:p>
            <a:pPr algn="l">
              <a:lnSpc>
                <a:spcPct val="130000"/>
              </a:lnSpc>
            </a:pPr>
            <a:r>
              <a:rPr sz="1300" b="0">
                <a:solidFill>
                  <a:srgbClr val="B0A899"/>
                </a:solidFill>
                <a:latin typeface="DM Sans"/>
              </a:rPr>
              <a:t>swept, then fixed → 28 steps · CFG 5.0 · LoRA 1.0 · negative prompt on</a:t>
            </a:r>
          </a:p>
        </p:txBody>
      </p:sp>
      <p:sp>
        <p:nvSpPr>
          <p:cNvPr id="14" name="TextBox 13"/>
          <p:cNvSpPr txBox="1"/>
          <p:nvPr/>
        </p:nvSpPr>
        <p:spPr>
          <a:xfrm>
            <a:off x="670543" y="5554980"/>
            <a:ext cx="10850608" cy="342900"/>
          </a:xfrm>
          <a:prstGeom prst="rect">
            <a:avLst/>
          </a:prstGeom>
          <a:noFill/>
        </p:spPr>
        <p:txBody>
          <a:bodyPr wrap="square" tIns="0" bIns="0" lIns="0" rIns="0" anchor="t">
            <a:spAutoFit/>
          </a:bodyPr>
          <a:lstStyle/>
          <a:p>
            <a:pPr algn="l">
              <a:lnSpc>
                <a:spcPct val="130000"/>
              </a:lnSpc>
            </a:pPr>
            <a:r>
              <a:rPr sz="1500" b="0">
                <a:solidFill>
                  <a:srgbClr val="E7D3A6"/>
                </a:solidFill>
                <a:latin typeface="DM Sans"/>
              </a:rPr>
              <a:t>Two models dream → everything after them is plain, checkable code.</a:t>
            </a:r>
          </a:p>
        </p:txBody>
      </p:sp>
      <p:sp>
        <p:nvSpPr>
          <p:cNvPr id="15" name="TextBox 14"/>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6.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1E5AA8"/>
                </a:solidFill>
                <a:latin typeface="DM Sans"/>
              </a:rPr>
              <a:t>COMFYUI WORKFLOWS</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Three graphs, one core.</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Text or image in → the same FLUX.2 + legoarch LoRA core → then TRELLIS to 3D.</a:t>
            </a:r>
          </a:p>
        </p:txBody>
      </p:sp>
      <p:sp>
        <p:nvSpPr>
          <p:cNvPr id="6" name="TextBox 5"/>
          <p:cNvSpPr txBox="1"/>
          <p:nvPr/>
        </p:nvSpPr>
        <p:spPr>
          <a:xfrm>
            <a:off x="829035" y="2585466"/>
            <a:ext cx="1511770" cy="274320"/>
          </a:xfrm>
          <a:prstGeom prst="rect">
            <a:avLst/>
          </a:prstGeom>
          <a:noFill/>
        </p:spPr>
        <p:txBody>
          <a:bodyPr wrap="square" tIns="0" bIns="0" lIns="0" rIns="0" anchor="t">
            <a:spAutoFit/>
          </a:bodyPr>
          <a:lstStyle/>
          <a:p>
            <a:pPr algn="l">
              <a:lnSpc>
                <a:spcPct val="130000"/>
              </a:lnSpc>
            </a:pPr>
            <a:r>
              <a:rPr sz="1250" b="1">
                <a:solidFill>
                  <a:srgbClr val="F3EFE6"/>
                </a:solidFill>
                <a:latin typeface="Nunito"/>
              </a:rPr>
              <a:t>TEXT</a:t>
            </a:r>
          </a:p>
        </p:txBody>
      </p:sp>
      <p:sp>
        <p:nvSpPr>
          <p:cNvPr id="7" name="TextBox 6"/>
          <p:cNvSpPr txBox="1"/>
          <p:nvPr/>
        </p:nvSpPr>
        <p:spPr>
          <a:xfrm>
            <a:off x="1280127" y="2921508"/>
            <a:ext cx="1072869" cy="342900"/>
          </a:xfrm>
          <a:prstGeom prst="rect">
            <a:avLst/>
          </a:prstGeom>
          <a:noFill/>
        </p:spPr>
        <p:txBody>
          <a:bodyPr wrap="square" tIns="0" bIns="0" lIns="0" rIns="0" anchor="t">
            <a:spAutoFit/>
          </a:bodyPr>
          <a:lstStyle/>
          <a:p>
            <a:pPr algn="l">
              <a:lnSpc>
                <a:spcPct val="122000"/>
              </a:lnSpc>
            </a:pPr>
            <a:r>
              <a:rPr sz="1050" b="0">
                <a:solidFill>
                  <a:srgbClr val="B0A899"/>
                </a:solidFill>
                <a:latin typeface="DM Sans"/>
              </a:rPr>
              <a:t>a building name</a:t>
            </a:r>
          </a:p>
        </p:txBody>
      </p:sp>
      <p:sp>
        <p:nvSpPr>
          <p:cNvPr id="8" name="TextBox 7"/>
          <p:cNvSpPr txBox="1"/>
          <p:nvPr/>
        </p:nvSpPr>
        <p:spPr>
          <a:xfrm>
            <a:off x="829035" y="4025646"/>
            <a:ext cx="1511770" cy="274320"/>
          </a:xfrm>
          <a:prstGeom prst="rect">
            <a:avLst/>
          </a:prstGeom>
          <a:noFill/>
        </p:spPr>
        <p:txBody>
          <a:bodyPr wrap="square" tIns="0" bIns="0" lIns="0" rIns="0" anchor="t">
            <a:spAutoFit/>
          </a:bodyPr>
          <a:lstStyle/>
          <a:p>
            <a:pPr algn="l">
              <a:lnSpc>
                <a:spcPct val="130000"/>
              </a:lnSpc>
            </a:pPr>
            <a:r>
              <a:rPr sz="1250" b="1">
                <a:solidFill>
                  <a:srgbClr val="F3EFE6"/>
                </a:solidFill>
                <a:latin typeface="Nunito"/>
              </a:rPr>
              <a:t>IMAGE</a:t>
            </a:r>
          </a:p>
        </p:txBody>
      </p:sp>
      <p:sp>
        <p:nvSpPr>
          <p:cNvPr id="9" name="TextBox 8"/>
          <p:cNvSpPr txBox="1"/>
          <p:nvPr/>
        </p:nvSpPr>
        <p:spPr>
          <a:xfrm>
            <a:off x="1280127" y="4361688"/>
            <a:ext cx="1072869" cy="342900"/>
          </a:xfrm>
          <a:prstGeom prst="rect">
            <a:avLst/>
          </a:prstGeom>
          <a:noFill/>
        </p:spPr>
        <p:txBody>
          <a:bodyPr wrap="square" tIns="0" bIns="0" lIns="0" rIns="0" anchor="t">
            <a:spAutoFit/>
          </a:bodyPr>
          <a:lstStyle/>
          <a:p>
            <a:pPr algn="l">
              <a:lnSpc>
                <a:spcPct val="122000"/>
              </a:lnSpc>
            </a:pPr>
            <a:r>
              <a:rPr sz="1050" b="0">
                <a:solidFill>
                  <a:srgbClr val="B0A899"/>
                </a:solidFill>
                <a:latin typeface="DM Sans"/>
              </a:rPr>
              <a:t>a photo or sketch</a:t>
            </a:r>
          </a:p>
        </p:txBody>
      </p:sp>
      <p:sp>
        <p:nvSpPr>
          <p:cNvPr id="10" name="TextBox 9"/>
          <p:cNvSpPr txBox="1"/>
          <p:nvPr/>
        </p:nvSpPr>
        <p:spPr>
          <a:xfrm>
            <a:off x="3633125" y="2996946"/>
            <a:ext cx="2121354" cy="274320"/>
          </a:xfrm>
          <a:prstGeom prst="rect">
            <a:avLst/>
          </a:prstGeom>
          <a:noFill/>
        </p:spPr>
        <p:txBody>
          <a:bodyPr wrap="square" tIns="0" bIns="0" lIns="0" rIns="0" anchor="t">
            <a:spAutoFit/>
          </a:bodyPr>
          <a:lstStyle/>
          <a:p>
            <a:pPr algn="l">
              <a:lnSpc>
                <a:spcPct val="130000"/>
              </a:lnSpc>
            </a:pPr>
            <a:r>
              <a:rPr sz="1250" b="1">
                <a:solidFill>
                  <a:srgbClr val="F3EFE6"/>
                </a:solidFill>
                <a:latin typeface="Nunito"/>
              </a:rPr>
              <a:t>FLUX.2 + LoRA</a:t>
            </a:r>
          </a:p>
        </p:txBody>
      </p:sp>
      <p:sp>
        <p:nvSpPr>
          <p:cNvPr id="11" name="TextBox 10"/>
          <p:cNvSpPr txBox="1"/>
          <p:nvPr/>
        </p:nvSpPr>
        <p:spPr>
          <a:xfrm>
            <a:off x="4084217" y="3332988"/>
            <a:ext cx="1682453" cy="342900"/>
          </a:xfrm>
          <a:prstGeom prst="rect">
            <a:avLst/>
          </a:prstGeom>
          <a:noFill/>
        </p:spPr>
        <p:txBody>
          <a:bodyPr wrap="square" tIns="0" bIns="0" lIns="0" rIns="0" anchor="t">
            <a:spAutoFit/>
          </a:bodyPr>
          <a:lstStyle/>
          <a:p>
            <a:pPr algn="l">
              <a:lnSpc>
                <a:spcPct val="122000"/>
              </a:lnSpc>
            </a:pPr>
            <a:r>
              <a:rPr sz="1050" b="0">
                <a:solidFill>
                  <a:srgbClr val="B0A899"/>
                </a:solidFill>
                <a:latin typeface="DM Sans"/>
              </a:rPr>
              <a:t>the shared core →</a:t>
            </a:r>
          </a:p>
          <a:p>
            <a:pPr algn="l">
              <a:lnSpc>
                <a:spcPct val="122000"/>
              </a:lnSpc>
            </a:pPr>
            <a:r>
              <a:rPr sz="1050" b="0">
                <a:solidFill>
                  <a:srgbClr val="B0A899"/>
                </a:solidFill>
                <a:latin typeface="DM Sans"/>
              </a:rPr>
              <a:t>one LEGO look</a:t>
            </a:r>
          </a:p>
        </p:txBody>
      </p:sp>
      <p:sp>
        <p:nvSpPr>
          <p:cNvPr id="12" name="TextBox 11"/>
          <p:cNvSpPr txBox="1"/>
          <p:nvPr/>
        </p:nvSpPr>
        <p:spPr>
          <a:xfrm>
            <a:off x="6742007" y="3284982"/>
            <a:ext cx="1146019" cy="274320"/>
          </a:xfrm>
          <a:prstGeom prst="rect">
            <a:avLst/>
          </a:prstGeom>
          <a:noFill/>
        </p:spPr>
        <p:txBody>
          <a:bodyPr wrap="square" tIns="0" bIns="0" lIns="0" rIns="0" anchor="t">
            <a:spAutoFit/>
          </a:bodyPr>
          <a:lstStyle/>
          <a:p>
            <a:pPr algn="l">
              <a:lnSpc>
                <a:spcPct val="130000"/>
              </a:lnSpc>
            </a:pPr>
            <a:r>
              <a:rPr sz="1250" b="1">
                <a:solidFill>
                  <a:srgbClr val="F3EFE6"/>
                </a:solidFill>
                <a:latin typeface="Nunito"/>
              </a:rPr>
              <a:t>RENDER</a:t>
            </a:r>
          </a:p>
        </p:txBody>
      </p:sp>
      <p:sp>
        <p:nvSpPr>
          <p:cNvPr id="13" name="TextBox 12"/>
          <p:cNvSpPr txBox="1"/>
          <p:nvPr/>
        </p:nvSpPr>
        <p:spPr>
          <a:xfrm>
            <a:off x="6742007" y="3621024"/>
            <a:ext cx="1158211" cy="342900"/>
          </a:xfrm>
          <a:prstGeom prst="rect">
            <a:avLst/>
          </a:prstGeom>
          <a:noFill/>
        </p:spPr>
        <p:txBody>
          <a:bodyPr wrap="square" tIns="0" bIns="0" lIns="0" rIns="0" anchor="t">
            <a:spAutoFit/>
          </a:bodyPr>
          <a:lstStyle/>
          <a:p>
            <a:pPr algn="l">
              <a:lnSpc>
                <a:spcPct val="122000"/>
              </a:lnSpc>
            </a:pPr>
            <a:r>
              <a:rPr sz="1050" b="0">
                <a:solidFill>
                  <a:srgbClr val="B0A899"/>
                </a:solidFill>
                <a:latin typeface="DM Sans"/>
              </a:rPr>
              <a:t>set-look image</a:t>
            </a:r>
          </a:p>
        </p:txBody>
      </p:sp>
      <p:sp>
        <p:nvSpPr>
          <p:cNvPr id="14" name="TextBox 13"/>
          <p:cNvSpPr txBox="1"/>
          <p:nvPr/>
        </p:nvSpPr>
        <p:spPr>
          <a:xfrm>
            <a:off x="8692678" y="3284982"/>
            <a:ext cx="1146019" cy="274320"/>
          </a:xfrm>
          <a:prstGeom prst="rect">
            <a:avLst/>
          </a:prstGeom>
          <a:noFill/>
        </p:spPr>
        <p:txBody>
          <a:bodyPr wrap="square" tIns="0" bIns="0" lIns="0" rIns="0" anchor="t">
            <a:spAutoFit/>
          </a:bodyPr>
          <a:lstStyle/>
          <a:p>
            <a:pPr algn="l">
              <a:lnSpc>
                <a:spcPct val="130000"/>
              </a:lnSpc>
            </a:pPr>
            <a:r>
              <a:rPr sz="1250" b="1">
                <a:solidFill>
                  <a:srgbClr val="F3EFE6"/>
                </a:solidFill>
                <a:latin typeface="Nunito"/>
              </a:rPr>
              <a:t>TRELLIS.2</a:t>
            </a:r>
          </a:p>
        </p:txBody>
      </p:sp>
      <p:sp>
        <p:nvSpPr>
          <p:cNvPr id="15" name="TextBox 14"/>
          <p:cNvSpPr txBox="1"/>
          <p:nvPr/>
        </p:nvSpPr>
        <p:spPr>
          <a:xfrm>
            <a:off x="9143771" y="3621024"/>
            <a:ext cx="707118" cy="342900"/>
          </a:xfrm>
          <a:prstGeom prst="rect">
            <a:avLst/>
          </a:prstGeom>
          <a:noFill/>
        </p:spPr>
        <p:txBody>
          <a:bodyPr wrap="square" tIns="0" bIns="0" lIns="0" rIns="0" anchor="t">
            <a:spAutoFit/>
          </a:bodyPr>
          <a:lstStyle/>
          <a:p>
            <a:pPr algn="l">
              <a:lnSpc>
                <a:spcPct val="122000"/>
              </a:lnSpc>
            </a:pPr>
            <a:r>
              <a:rPr sz="1050" b="0">
                <a:solidFill>
                  <a:srgbClr val="B0A899"/>
                </a:solidFill>
                <a:latin typeface="DM Sans"/>
              </a:rPr>
              <a:t>carves 3D</a:t>
            </a:r>
          </a:p>
        </p:txBody>
      </p:sp>
      <p:sp>
        <p:nvSpPr>
          <p:cNvPr id="16" name="TextBox 15"/>
          <p:cNvSpPr txBox="1"/>
          <p:nvPr/>
        </p:nvSpPr>
        <p:spPr>
          <a:xfrm>
            <a:off x="10545816" y="3284982"/>
            <a:ext cx="816843" cy="274320"/>
          </a:xfrm>
          <a:prstGeom prst="rect">
            <a:avLst/>
          </a:prstGeom>
          <a:noFill/>
        </p:spPr>
        <p:txBody>
          <a:bodyPr wrap="square" tIns="0" bIns="0" lIns="0" rIns="0" anchor="t">
            <a:spAutoFit/>
          </a:bodyPr>
          <a:lstStyle/>
          <a:p>
            <a:pPr algn="l">
              <a:lnSpc>
                <a:spcPct val="130000"/>
              </a:lnSpc>
            </a:pPr>
            <a:r>
              <a:rPr sz="1250" b="1">
                <a:solidFill>
                  <a:srgbClr val="F3EFE6"/>
                </a:solidFill>
                <a:latin typeface="Nunito"/>
              </a:rPr>
              <a:t>3D MESH</a:t>
            </a:r>
          </a:p>
        </p:txBody>
      </p:sp>
      <p:sp>
        <p:nvSpPr>
          <p:cNvPr id="17" name="TextBox 16"/>
          <p:cNvSpPr txBox="1"/>
          <p:nvPr/>
        </p:nvSpPr>
        <p:spPr>
          <a:xfrm>
            <a:off x="10545816" y="3621024"/>
            <a:ext cx="829035" cy="342900"/>
          </a:xfrm>
          <a:prstGeom prst="rect">
            <a:avLst/>
          </a:prstGeom>
          <a:noFill/>
        </p:spPr>
        <p:txBody>
          <a:bodyPr wrap="square" tIns="0" bIns="0" lIns="0" rIns="0" anchor="t">
            <a:spAutoFit/>
          </a:bodyPr>
          <a:lstStyle/>
          <a:p>
            <a:pPr algn="l">
              <a:lnSpc>
                <a:spcPct val="122000"/>
              </a:lnSpc>
            </a:pPr>
            <a:r>
              <a:rPr sz="1050" b="0">
                <a:solidFill>
                  <a:srgbClr val="B0A899"/>
                </a:solidFill>
                <a:latin typeface="DM Sans"/>
              </a:rPr>
              <a:t>textured</a:t>
            </a:r>
          </a:p>
        </p:txBody>
      </p:sp>
      <p:sp>
        <p:nvSpPr>
          <p:cNvPr id="18" name="TextBox 17"/>
          <p:cNvSpPr txBox="1"/>
          <p:nvPr/>
        </p:nvSpPr>
        <p:spPr>
          <a:xfrm>
            <a:off x="865610" y="4951476"/>
            <a:ext cx="3084498" cy="274320"/>
          </a:xfrm>
          <a:prstGeom prst="rect">
            <a:avLst/>
          </a:prstGeom>
          <a:noFill/>
        </p:spPr>
        <p:txBody>
          <a:bodyPr wrap="square" tIns="0" bIns="0" lIns="0" rIns="0" anchor="t">
            <a:spAutoFit/>
          </a:bodyPr>
          <a:lstStyle/>
          <a:p>
            <a:pPr algn="l">
              <a:lnSpc>
                <a:spcPct val="130000"/>
              </a:lnSpc>
            </a:pPr>
            <a:r>
              <a:rPr sz="1400" b="1">
                <a:solidFill>
                  <a:srgbClr val="34302A"/>
                </a:solidFill>
                <a:latin typeface="Nunito"/>
              </a:rPr>
              <a:t>txt → img</a:t>
            </a:r>
          </a:p>
        </p:txBody>
      </p:sp>
      <p:sp>
        <p:nvSpPr>
          <p:cNvPr id="19" name="TextBox 18"/>
          <p:cNvSpPr txBox="1"/>
          <p:nvPr/>
        </p:nvSpPr>
        <p:spPr>
          <a:xfrm>
            <a:off x="865610" y="5157216"/>
            <a:ext cx="3084498" cy="205739"/>
          </a:xfrm>
          <a:prstGeom prst="rect">
            <a:avLst/>
          </a:prstGeom>
          <a:noFill/>
        </p:spPr>
        <p:txBody>
          <a:bodyPr wrap="square" tIns="0" bIns="0" lIns="0" rIns="0" anchor="t">
            <a:spAutoFit/>
          </a:bodyPr>
          <a:lstStyle/>
          <a:p>
            <a:pPr algn="l">
              <a:lnSpc>
                <a:spcPct val="130000"/>
              </a:lnSpc>
            </a:pPr>
            <a:r>
              <a:rPr sz="1050" b="0">
                <a:solidFill>
                  <a:srgbClr val="6F685C"/>
                </a:solidFill>
                <a:latin typeface="DM Sans"/>
              </a:rPr>
              <a:t>05_FLUX.2_LoRA.json</a:t>
            </a:r>
          </a:p>
        </p:txBody>
      </p:sp>
      <p:sp>
        <p:nvSpPr>
          <p:cNvPr id="20" name="TextBox 19"/>
          <p:cNvSpPr txBox="1"/>
          <p:nvPr/>
        </p:nvSpPr>
        <p:spPr>
          <a:xfrm>
            <a:off x="4565789" y="4951476"/>
            <a:ext cx="3084498" cy="274320"/>
          </a:xfrm>
          <a:prstGeom prst="rect">
            <a:avLst/>
          </a:prstGeom>
          <a:noFill/>
        </p:spPr>
        <p:txBody>
          <a:bodyPr wrap="square" tIns="0" bIns="0" lIns="0" rIns="0" anchor="t">
            <a:spAutoFit/>
          </a:bodyPr>
          <a:lstStyle/>
          <a:p>
            <a:pPr algn="l">
              <a:lnSpc>
                <a:spcPct val="130000"/>
              </a:lnSpc>
            </a:pPr>
            <a:r>
              <a:rPr sz="1400" b="1">
                <a:solidFill>
                  <a:srgbClr val="34302A"/>
                </a:solidFill>
                <a:latin typeface="Nunito"/>
              </a:rPr>
              <a:t>img → img</a:t>
            </a:r>
          </a:p>
        </p:txBody>
      </p:sp>
      <p:sp>
        <p:nvSpPr>
          <p:cNvPr id="21" name="TextBox 20"/>
          <p:cNvSpPr txBox="1"/>
          <p:nvPr/>
        </p:nvSpPr>
        <p:spPr>
          <a:xfrm>
            <a:off x="4565789" y="5157216"/>
            <a:ext cx="3084498" cy="205739"/>
          </a:xfrm>
          <a:prstGeom prst="rect">
            <a:avLst/>
          </a:prstGeom>
          <a:noFill/>
        </p:spPr>
        <p:txBody>
          <a:bodyPr wrap="square" tIns="0" bIns="0" lIns="0" rIns="0" anchor="t">
            <a:spAutoFit/>
          </a:bodyPr>
          <a:lstStyle/>
          <a:p>
            <a:pPr algn="l">
              <a:lnSpc>
                <a:spcPct val="130000"/>
              </a:lnSpc>
            </a:pPr>
            <a:r>
              <a:rPr sz="1050" b="0">
                <a:solidFill>
                  <a:srgbClr val="6F685C"/>
                </a:solidFill>
                <a:latin typeface="DM Sans"/>
              </a:rPr>
              <a:t>FLUX.2_image-to-image_LoRA.json</a:t>
            </a:r>
          </a:p>
        </p:txBody>
      </p:sp>
      <p:sp>
        <p:nvSpPr>
          <p:cNvPr id="22" name="TextBox 21"/>
          <p:cNvSpPr txBox="1"/>
          <p:nvPr/>
        </p:nvSpPr>
        <p:spPr>
          <a:xfrm>
            <a:off x="8265969" y="4951476"/>
            <a:ext cx="3084498" cy="274320"/>
          </a:xfrm>
          <a:prstGeom prst="rect">
            <a:avLst/>
          </a:prstGeom>
          <a:noFill/>
        </p:spPr>
        <p:txBody>
          <a:bodyPr wrap="square" tIns="0" bIns="0" lIns="0" rIns="0" anchor="t">
            <a:spAutoFit/>
          </a:bodyPr>
          <a:lstStyle/>
          <a:p>
            <a:pPr algn="l">
              <a:lnSpc>
                <a:spcPct val="130000"/>
              </a:lnSpc>
            </a:pPr>
            <a:r>
              <a:rPr sz="1400" b="1">
                <a:solidFill>
                  <a:srgbClr val="34302A"/>
                </a:solidFill>
                <a:latin typeface="Nunito"/>
              </a:rPr>
              <a:t>img → 3D</a:t>
            </a:r>
          </a:p>
        </p:txBody>
      </p:sp>
      <p:sp>
        <p:nvSpPr>
          <p:cNvPr id="23" name="TextBox 22"/>
          <p:cNvSpPr txBox="1"/>
          <p:nvPr/>
        </p:nvSpPr>
        <p:spPr>
          <a:xfrm>
            <a:off x="8265969" y="5157216"/>
            <a:ext cx="3084498" cy="205739"/>
          </a:xfrm>
          <a:prstGeom prst="rect">
            <a:avLst/>
          </a:prstGeom>
          <a:noFill/>
        </p:spPr>
        <p:txBody>
          <a:bodyPr wrap="square" tIns="0" bIns="0" lIns="0" rIns="0" anchor="t">
            <a:spAutoFit/>
          </a:bodyPr>
          <a:lstStyle/>
          <a:p>
            <a:pPr algn="l">
              <a:lnSpc>
                <a:spcPct val="130000"/>
              </a:lnSpc>
            </a:pPr>
            <a:r>
              <a:rPr sz="1050" b="0">
                <a:solidFill>
                  <a:srgbClr val="6F685C"/>
                </a:solidFill>
                <a:latin typeface="DM Sans"/>
              </a:rPr>
              <a:t>3D.json</a:t>
            </a:r>
          </a:p>
        </p:txBody>
      </p:sp>
      <p:sp>
        <p:nvSpPr>
          <p:cNvPr id="24" name="TextBox 23"/>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B8890A"/>
                </a:solidFill>
                <a:latin typeface="DM Sans"/>
              </a:rPr>
              <a:t>HOW LEGOLIZATION WORKS</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Many 1×1s → a few real parts.</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Split-and-merge packs the voxel grid into the largest legal bricks — fewer parts, same shape.</a:t>
            </a:r>
          </a:p>
        </p:txBody>
      </p:sp>
      <p:sp>
        <p:nvSpPr>
          <p:cNvPr id="6" name="TextBox 5"/>
          <p:cNvSpPr txBox="1"/>
          <p:nvPr/>
        </p:nvSpPr>
        <p:spPr>
          <a:xfrm>
            <a:off x="1402044" y="4560570"/>
            <a:ext cx="2926006" cy="274320"/>
          </a:xfrm>
          <a:prstGeom prst="rect">
            <a:avLst/>
          </a:prstGeom>
          <a:noFill/>
        </p:spPr>
        <p:txBody>
          <a:bodyPr wrap="square" tIns="0" bIns="0" lIns="0" rIns="0" anchor="t">
            <a:spAutoFit/>
          </a:bodyPr>
          <a:lstStyle/>
          <a:p>
            <a:pPr algn="ctr">
              <a:lnSpc>
                <a:spcPct val="130000"/>
              </a:lnSpc>
            </a:pPr>
            <a:r>
              <a:rPr sz="1400" b="1">
                <a:solidFill>
                  <a:srgbClr val="F3EFE6"/>
                </a:solidFill>
                <a:latin typeface="Nunito"/>
              </a:rPr>
              <a:t>raw voxel grid</a:t>
            </a:r>
          </a:p>
        </p:txBody>
      </p:sp>
      <p:sp>
        <p:nvSpPr>
          <p:cNvPr id="7" name="TextBox 6"/>
          <p:cNvSpPr txBox="1"/>
          <p:nvPr/>
        </p:nvSpPr>
        <p:spPr>
          <a:xfrm>
            <a:off x="1402044" y="4834890"/>
            <a:ext cx="2926006" cy="274320"/>
          </a:xfrm>
          <a:prstGeom prst="rect">
            <a:avLst/>
          </a:prstGeom>
          <a:noFill/>
        </p:spPr>
        <p:txBody>
          <a:bodyPr wrap="square" tIns="0" bIns="0" lIns="0" rIns="0" anchor="t">
            <a:spAutoFit/>
          </a:bodyPr>
          <a:lstStyle/>
          <a:p>
            <a:pPr algn="ctr">
              <a:lnSpc>
                <a:spcPct val="130000"/>
              </a:lnSpc>
            </a:pPr>
            <a:r>
              <a:rPr sz="1200" b="0">
                <a:solidFill>
                  <a:srgbClr val="B0A899"/>
                </a:solidFill>
                <a:latin typeface="DM Sans"/>
              </a:rPr>
              <a:t>thousands of 1×1 cells</a:t>
            </a:r>
          </a:p>
        </p:txBody>
      </p:sp>
      <p:sp>
        <p:nvSpPr>
          <p:cNvPr id="8" name="TextBox 7"/>
          <p:cNvSpPr txBox="1"/>
          <p:nvPr/>
        </p:nvSpPr>
        <p:spPr>
          <a:xfrm>
            <a:off x="6034889" y="4560570"/>
            <a:ext cx="2926006" cy="274320"/>
          </a:xfrm>
          <a:prstGeom prst="rect">
            <a:avLst/>
          </a:prstGeom>
          <a:noFill/>
        </p:spPr>
        <p:txBody>
          <a:bodyPr wrap="square" tIns="0" bIns="0" lIns="0" rIns="0" anchor="t">
            <a:spAutoFit/>
          </a:bodyPr>
          <a:lstStyle/>
          <a:p>
            <a:pPr algn="ctr">
              <a:lnSpc>
                <a:spcPct val="130000"/>
              </a:lnSpc>
            </a:pPr>
            <a:r>
              <a:rPr sz="1400" b="1">
                <a:solidFill>
                  <a:srgbClr val="F3EFE6"/>
                </a:solidFill>
                <a:latin typeface="Nunito"/>
              </a:rPr>
              <a:t>merged real parts</a:t>
            </a:r>
          </a:p>
        </p:txBody>
      </p:sp>
      <p:sp>
        <p:nvSpPr>
          <p:cNvPr id="9" name="TextBox 8"/>
          <p:cNvSpPr txBox="1"/>
          <p:nvPr/>
        </p:nvSpPr>
        <p:spPr>
          <a:xfrm>
            <a:off x="6034889" y="4834890"/>
            <a:ext cx="2926006" cy="274320"/>
          </a:xfrm>
          <a:prstGeom prst="rect">
            <a:avLst/>
          </a:prstGeom>
          <a:noFill/>
        </p:spPr>
        <p:txBody>
          <a:bodyPr wrap="square" tIns="0" bIns="0" lIns="0" rIns="0" anchor="t">
            <a:spAutoFit/>
          </a:bodyPr>
          <a:lstStyle/>
          <a:p>
            <a:pPr algn="ctr">
              <a:lnSpc>
                <a:spcPct val="130000"/>
              </a:lnSpc>
            </a:pPr>
            <a:r>
              <a:rPr sz="1200" b="0">
                <a:solidFill>
                  <a:srgbClr val="B0A899"/>
                </a:solidFill>
                <a:latin typeface="DM Sans"/>
              </a:rPr>
              <a:t>2×4 · 2×2 · slopes</a:t>
            </a:r>
          </a:p>
        </p:txBody>
      </p:sp>
      <p:sp>
        <p:nvSpPr>
          <p:cNvPr id="10" name="TextBox 9"/>
          <p:cNvSpPr txBox="1"/>
          <p:nvPr/>
        </p:nvSpPr>
        <p:spPr>
          <a:xfrm>
            <a:off x="9692397" y="2366010"/>
            <a:ext cx="1889712" cy="274320"/>
          </a:xfrm>
          <a:prstGeom prst="rect">
            <a:avLst/>
          </a:prstGeom>
          <a:noFill/>
        </p:spPr>
        <p:txBody>
          <a:bodyPr wrap="square" tIns="0" bIns="0" lIns="0" rIns="0" anchor="t">
            <a:spAutoFit/>
          </a:bodyPr>
          <a:lstStyle/>
          <a:p>
            <a:pPr algn="l">
              <a:lnSpc>
                <a:spcPct val="130000"/>
              </a:lnSpc>
            </a:pPr>
            <a:r>
              <a:rPr sz="1100" b="1">
                <a:solidFill>
                  <a:srgbClr val="E7D3A6"/>
                </a:solidFill>
                <a:latin typeface="DM Sans"/>
              </a:rPr>
              <a:t>FOUR PASSES</a:t>
            </a:r>
          </a:p>
        </p:txBody>
      </p:sp>
      <p:sp>
        <p:nvSpPr>
          <p:cNvPr id="11" name="TextBox 10"/>
          <p:cNvSpPr txBox="1"/>
          <p:nvPr/>
        </p:nvSpPr>
        <p:spPr>
          <a:xfrm>
            <a:off x="10131298" y="2777490"/>
            <a:ext cx="1463003" cy="274320"/>
          </a:xfrm>
          <a:prstGeom prst="rect">
            <a:avLst/>
          </a:prstGeom>
          <a:noFill/>
        </p:spPr>
        <p:txBody>
          <a:bodyPr wrap="square" tIns="0" bIns="0" lIns="0" rIns="0" anchor="t">
            <a:spAutoFit/>
          </a:bodyPr>
          <a:lstStyle/>
          <a:p>
            <a:pPr algn="l">
              <a:lnSpc>
                <a:spcPct val="130000"/>
              </a:lnSpc>
            </a:pPr>
            <a:r>
              <a:rPr sz="1500" b="1">
                <a:solidFill>
                  <a:srgbClr val="F3EFE6"/>
                </a:solidFill>
                <a:latin typeface="Nunito"/>
              </a:rPr>
              <a:t>slopes</a:t>
            </a:r>
          </a:p>
        </p:txBody>
      </p:sp>
      <p:sp>
        <p:nvSpPr>
          <p:cNvPr id="12" name="TextBox 11"/>
          <p:cNvSpPr txBox="1"/>
          <p:nvPr/>
        </p:nvSpPr>
        <p:spPr>
          <a:xfrm>
            <a:off x="10131298" y="3188970"/>
            <a:ext cx="1463003" cy="274320"/>
          </a:xfrm>
          <a:prstGeom prst="rect">
            <a:avLst/>
          </a:prstGeom>
          <a:noFill/>
        </p:spPr>
        <p:txBody>
          <a:bodyPr wrap="square" tIns="0" bIns="0" lIns="0" rIns="0" anchor="t">
            <a:spAutoFit/>
          </a:bodyPr>
          <a:lstStyle/>
          <a:p>
            <a:pPr algn="l">
              <a:lnSpc>
                <a:spcPct val="130000"/>
              </a:lnSpc>
            </a:pPr>
            <a:r>
              <a:rPr sz="1500" b="1">
                <a:solidFill>
                  <a:srgbClr val="F3EFE6"/>
                </a:solidFill>
                <a:latin typeface="Nunito"/>
              </a:rPr>
              <a:t>bricks</a:t>
            </a:r>
          </a:p>
        </p:txBody>
      </p:sp>
      <p:sp>
        <p:nvSpPr>
          <p:cNvPr id="13" name="TextBox 12"/>
          <p:cNvSpPr txBox="1"/>
          <p:nvPr/>
        </p:nvSpPr>
        <p:spPr>
          <a:xfrm>
            <a:off x="10131298" y="3600450"/>
            <a:ext cx="1463003" cy="274320"/>
          </a:xfrm>
          <a:prstGeom prst="rect">
            <a:avLst/>
          </a:prstGeom>
          <a:noFill/>
        </p:spPr>
        <p:txBody>
          <a:bodyPr wrap="square" tIns="0" bIns="0" lIns="0" rIns="0" anchor="t">
            <a:spAutoFit/>
          </a:bodyPr>
          <a:lstStyle/>
          <a:p>
            <a:pPr algn="l">
              <a:lnSpc>
                <a:spcPct val="130000"/>
              </a:lnSpc>
            </a:pPr>
            <a:r>
              <a:rPr sz="1500" b="1">
                <a:solidFill>
                  <a:srgbClr val="F3EFE6"/>
                </a:solidFill>
                <a:latin typeface="Nunito"/>
              </a:rPr>
              <a:t>plates</a:t>
            </a:r>
          </a:p>
        </p:txBody>
      </p:sp>
      <p:sp>
        <p:nvSpPr>
          <p:cNvPr id="14" name="TextBox 13"/>
          <p:cNvSpPr txBox="1"/>
          <p:nvPr/>
        </p:nvSpPr>
        <p:spPr>
          <a:xfrm>
            <a:off x="10131298" y="4011929"/>
            <a:ext cx="1463003" cy="274320"/>
          </a:xfrm>
          <a:prstGeom prst="rect">
            <a:avLst/>
          </a:prstGeom>
          <a:noFill/>
        </p:spPr>
        <p:txBody>
          <a:bodyPr wrap="square" tIns="0" bIns="0" lIns="0" rIns="0" anchor="t">
            <a:spAutoFit/>
          </a:bodyPr>
          <a:lstStyle/>
          <a:p>
            <a:pPr algn="l">
              <a:lnSpc>
                <a:spcPct val="130000"/>
              </a:lnSpc>
            </a:pPr>
            <a:r>
              <a:rPr sz="1500" b="1">
                <a:solidFill>
                  <a:srgbClr val="F3EFE6"/>
                </a:solidFill>
                <a:latin typeface="Nunito"/>
              </a:rPr>
              <a:t>tiles</a:t>
            </a:r>
          </a:p>
        </p:txBody>
      </p:sp>
      <p:sp>
        <p:nvSpPr>
          <p:cNvPr id="15" name="TextBox 14"/>
          <p:cNvSpPr txBox="1"/>
          <p:nvPr/>
        </p:nvSpPr>
        <p:spPr>
          <a:xfrm>
            <a:off x="670543" y="5417820"/>
            <a:ext cx="9021854" cy="342900"/>
          </a:xfrm>
          <a:prstGeom prst="rect">
            <a:avLst/>
          </a:prstGeom>
          <a:noFill/>
        </p:spPr>
        <p:txBody>
          <a:bodyPr wrap="square" tIns="0" bIns="0" lIns="0" rIns="0" anchor="t">
            <a:spAutoFit/>
          </a:bodyPr>
          <a:lstStyle/>
          <a:p>
            <a:pPr algn="l">
              <a:lnSpc>
                <a:spcPct val="130000"/>
              </a:lnSpc>
            </a:pPr>
            <a:r>
              <a:rPr sz="1500" b="0">
                <a:solidFill>
                  <a:srgbClr val="E7D3A6"/>
                </a:solidFill>
                <a:latin typeface="DM Sans"/>
              </a:rPr>
              <a:t>Every brick is colour-uniform and seam-staggered → every footprint is one a real mould was made in.</a:t>
            </a:r>
          </a:p>
        </p:txBody>
      </p:sp>
      <p:sp>
        <p:nvSpPr>
          <p:cNvPr id="16" name="TextBox 15"/>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8.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1E5AA8"/>
                </a:solidFill>
                <a:latin typeface="DM Sans"/>
              </a:rPr>
              <a:t>HOW COLOUR MATCHES</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Every voxel → a real colour.</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A continuous mesh colour is snapped to the nearest of 48 real LEGO colours by ΔE2000.</a:t>
            </a:r>
          </a:p>
        </p:txBody>
      </p:sp>
      <p:sp>
        <p:nvSpPr>
          <p:cNvPr id="6" name="TextBox 5"/>
          <p:cNvSpPr txBox="1"/>
          <p:nvPr/>
        </p:nvSpPr>
        <p:spPr>
          <a:xfrm>
            <a:off x="1219169" y="5191506"/>
            <a:ext cx="914377" cy="274320"/>
          </a:xfrm>
          <a:prstGeom prst="rect">
            <a:avLst/>
          </a:prstGeom>
          <a:noFill/>
        </p:spPr>
        <p:txBody>
          <a:bodyPr wrap="square" tIns="0" bIns="0" lIns="0" rIns="0" anchor="t">
            <a:spAutoFit/>
          </a:bodyPr>
          <a:lstStyle/>
          <a:p>
            <a:pPr algn="ctr">
              <a:lnSpc>
                <a:spcPct val="130000"/>
              </a:lnSpc>
            </a:pPr>
            <a:r>
              <a:rPr sz="1100" b="0">
                <a:solidFill>
                  <a:srgbClr val="B0A899"/>
                </a:solidFill>
                <a:latin typeface="DM Sans"/>
              </a:rPr>
              <a:t>mesh colour</a:t>
            </a:r>
          </a:p>
        </p:txBody>
      </p:sp>
      <p:sp>
        <p:nvSpPr>
          <p:cNvPr id="7" name="TextBox 6"/>
          <p:cNvSpPr txBox="1"/>
          <p:nvPr/>
        </p:nvSpPr>
        <p:spPr>
          <a:xfrm>
            <a:off x="2986965" y="5191506"/>
            <a:ext cx="914377" cy="274320"/>
          </a:xfrm>
          <a:prstGeom prst="rect">
            <a:avLst/>
          </a:prstGeom>
          <a:noFill/>
        </p:spPr>
        <p:txBody>
          <a:bodyPr wrap="square" tIns="0" bIns="0" lIns="0" rIns="0" anchor="t">
            <a:spAutoFit/>
          </a:bodyPr>
          <a:lstStyle/>
          <a:p>
            <a:pPr algn="ctr">
              <a:lnSpc>
                <a:spcPct val="130000"/>
              </a:lnSpc>
            </a:pPr>
            <a:r>
              <a:rPr sz="1100" b="0">
                <a:solidFill>
                  <a:srgbClr val="B0A899"/>
                </a:solidFill>
                <a:latin typeface="DM Sans"/>
              </a:rPr>
              <a:t>48 real</a:t>
            </a:r>
          </a:p>
        </p:txBody>
      </p:sp>
      <p:sp>
        <p:nvSpPr>
          <p:cNvPr id="8" name="TextBox 7"/>
          <p:cNvSpPr txBox="1"/>
          <p:nvPr/>
        </p:nvSpPr>
        <p:spPr>
          <a:xfrm>
            <a:off x="1219169" y="2057400"/>
            <a:ext cx="2682172" cy="274320"/>
          </a:xfrm>
          <a:prstGeom prst="rect">
            <a:avLst/>
          </a:prstGeom>
          <a:noFill/>
        </p:spPr>
        <p:txBody>
          <a:bodyPr wrap="square" tIns="0" bIns="0" lIns="0" rIns="0" anchor="t">
            <a:spAutoFit/>
          </a:bodyPr>
          <a:lstStyle/>
          <a:p>
            <a:pPr algn="ctr">
              <a:lnSpc>
                <a:spcPct val="130000"/>
              </a:lnSpc>
            </a:pPr>
            <a:r>
              <a:rPr sz="1200" b="1">
                <a:solidFill>
                  <a:srgbClr val="E7D3A6"/>
                </a:solidFill>
                <a:latin typeface="DM Sans"/>
              </a:rPr>
              <a:t>ΔE2000 → nearest</a:t>
            </a:r>
          </a:p>
        </p:txBody>
      </p:sp>
      <p:sp>
        <p:nvSpPr>
          <p:cNvPr id="9" name="TextBox 8"/>
          <p:cNvSpPr txBox="1"/>
          <p:nvPr/>
        </p:nvSpPr>
        <p:spPr>
          <a:xfrm>
            <a:off x="4876678" y="2444877"/>
            <a:ext cx="341367" cy="205739"/>
          </a:xfrm>
          <a:prstGeom prst="rect">
            <a:avLst/>
          </a:prstGeom>
          <a:noFill/>
        </p:spPr>
        <p:txBody>
          <a:bodyPr wrap="square" tIns="0" bIns="0" lIns="0" rIns="0" anchor="t">
            <a:spAutoFit/>
          </a:bodyPr>
          <a:lstStyle/>
          <a:p>
            <a:pPr algn="ctr">
              <a:lnSpc>
                <a:spcPct val="130000"/>
              </a:lnSpc>
            </a:pPr>
            <a:r>
              <a:rPr sz="1100" b="1">
                <a:solidFill>
                  <a:srgbClr val="FFFFFF"/>
                </a:solidFill>
                <a:latin typeface="Nunito"/>
              </a:rPr>
              <a:t>1</a:t>
            </a:r>
          </a:p>
        </p:txBody>
      </p:sp>
      <p:sp>
        <p:nvSpPr>
          <p:cNvPr id="10" name="TextBox 9"/>
          <p:cNvSpPr txBox="1"/>
          <p:nvPr/>
        </p:nvSpPr>
        <p:spPr>
          <a:xfrm>
            <a:off x="5388729" y="2434589"/>
            <a:ext cx="6095847" cy="274320"/>
          </a:xfrm>
          <a:prstGeom prst="rect">
            <a:avLst/>
          </a:prstGeom>
          <a:noFill/>
        </p:spPr>
        <p:txBody>
          <a:bodyPr wrap="square" tIns="0" bIns="0" lIns="0" rIns="0" anchor="t">
            <a:spAutoFit/>
          </a:bodyPr>
          <a:lstStyle/>
          <a:p>
            <a:pPr algn="l">
              <a:lnSpc>
                <a:spcPct val="130000"/>
              </a:lnSpc>
            </a:pPr>
            <a:r>
              <a:rPr sz="1600" b="1">
                <a:solidFill>
                  <a:srgbClr val="F3EFE6"/>
                </a:solidFill>
                <a:latin typeface="Nunito"/>
              </a:rPr>
              <a:t>Sample</a:t>
            </a:r>
          </a:p>
        </p:txBody>
      </p:sp>
      <p:sp>
        <p:nvSpPr>
          <p:cNvPr id="11" name="TextBox 10"/>
          <p:cNvSpPr txBox="1"/>
          <p:nvPr/>
        </p:nvSpPr>
        <p:spPr>
          <a:xfrm>
            <a:off x="5388729" y="2681477"/>
            <a:ext cx="6339681" cy="342900"/>
          </a:xfrm>
          <a:prstGeom prst="rect">
            <a:avLst/>
          </a:prstGeom>
          <a:noFill/>
        </p:spPr>
        <p:txBody>
          <a:bodyPr wrap="square" tIns="0" bIns="0" lIns="0" rIns="0" anchor="t">
            <a:spAutoFit/>
          </a:bodyPr>
          <a:lstStyle/>
          <a:p>
            <a:pPr algn="l">
              <a:lnSpc>
                <a:spcPct val="130000"/>
              </a:lnSpc>
            </a:pPr>
            <a:r>
              <a:rPr sz="1300" b="0">
                <a:solidFill>
                  <a:srgbClr val="B0A899"/>
                </a:solidFill>
                <a:latin typeface="DM Sans"/>
              </a:rPr>
              <a:t>read each voxel's colour off the textured mesh</a:t>
            </a:r>
          </a:p>
        </p:txBody>
      </p:sp>
      <p:sp>
        <p:nvSpPr>
          <p:cNvPr id="12" name="TextBox 11"/>
          <p:cNvSpPr txBox="1"/>
          <p:nvPr/>
        </p:nvSpPr>
        <p:spPr>
          <a:xfrm>
            <a:off x="4876678" y="3007233"/>
            <a:ext cx="341367" cy="205739"/>
          </a:xfrm>
          <a:prstGeom prst="rect">
            <a:avLst/>
          </a:prstGeom>
          <a:noFill/>
        </p:spPr>
        <p:txBody>
          <a:bodyPr wrap="square" tIns="0" bIns="0" lIns="0" rIns="0" anchor="t">
            <a:spAutoFit/>
          </a:bodyPr>
          <a:lstStyle/>
          <a:p>
            <a:pPr algn="ctr">
              <a:lnSpc>
                <a:spcPct val="130000"/>
              </a:lnSpc>
            </a:pPr>
            <a:r>
              <a:rPr sz="1100" b="1">
                <a:solidFill>
                  <a:srgbClr val="FFFFFF"/>
                </a:solidFill>
                <a:latin typeface="Nunito"/>
              </a:rPr>
              <a:t>2</a:t>
            </a:r>
          </a:p>
        </p:txBody>
      </p:sp>
      <p:sp>
        <p:nvSpPr>
          <p:cNvPr id="13" name="TextBox 12"/>
          <p:cNvSpPr txBox="1"/>
          <p:nvPr/>
        </p:nvSpPr>
        <p:spPr>
          <a:xfrm>
            <a:off x="5388729" y="2996946"/>
            <a:ext cx="6095847" cy="274320"/>
          </a:xfrm>
          <a:prstGeom prst="rect">
            <a:avLst/>
          </a:prstGeom>
          <a:noFill/>
        </p:spPr>
        <p:txBody>
          <a:bodyPr wrap="square" tIns="0" bIns="0" lIns="0" rIns="0" anchor="t">
            <a:spAutoFit/>
          </a:bodyPr>
          <a:lstStyle/>
          <a:p>
            <a:pPr algn="l">
              <a:lnSpc>
                <a:spcPct val="130000"/>
              </a:lnSpc>
            </a:pPr>
            <a:r>
              <a:rPr sz="1600" b="1">
                <a:solidFill>
                  <a:srgbClr val="F3EFE6"/>
                </a:solidFill>
                <a:latin typeface="Nunito"/>
              </a:rPr>
              <a:t>Match</a:t>
            </a:r>
          </a:p>
        </p:txBody>
      </p:sp>
      <p:sp>
        <p:nvSpPr>
          <p:cNvPr id="14" name="TextBox 13"/>
          <p:cNvSpPr txBox="1"/>
          <p:nvPr/>
        </p:nvSpPr>
        <p:spPr>
          <a:xfrm>
            <a:off x="5388729" y="3243834"/>
            <a:ext cx="6339681" cy="342900"/>
          </a:xfrm>
          <a:prstGeom prst="rect">
            <a:avLst/>
          </a:prstGeom>
          <a:noFill/>
        </p:spPr>
        <p:txBody>
          <a:bodyPr wrap="square" tIns="0" bIns="0" lIns="0" rIns="0" anchor="t">
            <a:spAutoFit/>
          </a:bodyPr>
          <a:lstStyle/>
          <a:p>
            <a:pPr algn="l">
              <a:lnSpc>
                <a:spcPct val="130000"/>
              </a:lnSpc>
            </a:pPr>
            <a:r>
              <a:rPr sz="1300" b="0">
                <a:solidFill>
                  <a:srgbClr val="B0A899"/>
                </a:solidFill>
                <a:latin typeface="DM Sans"/>
              </a:rPr>
              <a:t>rescale exposure to the FLUX render (per-channel quantile)</a:t>
            </a:r>
          </a:p>
        </p:txBody>
      </p:sp>
      <p:sp>
        <p:nvSpPr>
          <p:cNvPr id="15" name="TextBox 14"/>
          <p:cNvSpPr txBox="1"/>
          <p:nvPr/>
        </p:nvSpPr>
        <p:spPr>
          <a:xfrm>
            <a:off x="4876678" y="3569588"/>
            <a:ext cx="341367" cy="205739"/>
          </a:xfrm>
          <a:prstGeom prst="rect">
            <a:avLst/>
          </a:prstGeom>
          <a:noFill/>
        </p:spPr>
        <p:txBody>
          <a:bodyPr wrap="square" tIns="0" bIns="0" lIns="0" rIns="0" anchor="t">
            <a:spAutoFit/>
          </a:bodyPr>
          <a:lstStyle/>
          <a:p>
            <a:pPr algn="ctr">
              <a:lnSpc>
                <a:spcPct val="130000"/>
              </a:lnSpc>
            </a:pPr>
            <a:r>
              <a:rPr sz="1100" b="1">
                <a:solidFill>
                  <a:srgbClr val="FFFFFF"/>
                </a:solidFill>
                <a:latin typeface="Nunito"/>
              </a:rPr>
              <a:t>3</a:t>
            </a:r>
          </a:p>
        </p:txBody>
      </p:sp>
      <p:sp>
        <p:nvSpPr>
          <p:cNvPr id="16" name="TextBox 15"/>
          <p:cNvSpPr txBox="1"/>
          <p:nvPr/>
        </p:nvSpPr>
        <p:spPr>
          <a:xfrm>
            <a:off x="5388729" y="3559302"/>
            <a:ext cx="6095847" cy="274320"/>
          </a:xfrm>
          <a:prstGeom prst="rect">
            <a:avLst/>
          </a:prstGeom>
          <a:noFill/>
        </p:spPr>
        <p:txBody>
          <a:bodyPr wrap="square" tIns="0" bIns="0" lIns="0" rIns="0" anchor="t">
            <a:spAutoFit/>
          </a:bodyPr>
          <a:lstStyle/>
          <a:p>
            <a:pPr algn="l">
              <a:lnSpc>
                <a:spcPct val="130000"/>
              </a:lnSpc>
            </a:pPr>
            <a:r>
              <a:rPr sz="1600" b="1">
                <a:solidFill>
                  <a:srgbClr val="F3EFE6"/>
                </a:solidFill>
                <a:latin typeface="Nunito"/>
              </a:rPr>
              <a:t>Convert</a:t>
            </a:r>
          </a:p>
        </p:txBody>
      </p:sp>
      <p:sp>
        <p:nvSpPr>
          <p:cNvPr id="17" name="TextBox 16"/>
          <p:cNvSpPr txBox="1"/>
          <p:nvPr/>
        </p:nvSpPr>
        <p:spPr>
          <a:xfrm>
            <a:off x="5388729" y="3806190"/>
            <a:ext cx="6339681" cy="342900"/>
          </a:xfrm>
          <a:prstGeom prst="rect">
            <a:avLst/>
          </a:prstGeom>
          <a:noFill/>
        </p:spPr>
        <p:txBody>
          <a:bodyPr wrap="square" tIns="0" bIns="0" lIns="0" rIns="0" anchor="t">
            <a:spAutoFit/>
          </a:bodyPr>
          <a:lstStyle/>
          <a:p>
            <a:pPr algn="l">
              <a:lnSpc>
                <a:spcPct val="130000"/>
              </a:lnSpc>
            </a:pPr>
            <a:r>
              <a:rPr sz="1300" b="0">
                <a:solidFill>
                  <a:srgbClr val="B0A899"/>
                </a:solidFill>
                <a:latin typeface="DM Sans"/>
              </a:rPr>
              <a:t>sRGB → CIE Lab (D65)</a:t>
            </a:r>
          </a:p>
        </p:txBody>
      </p:sp>
      <p:sp>
        <p:nvSpPr>
          <p:cNvPr id="18" name="TextBox 17"/>
          <p:cNvSpPr txBox="1"/>
          <p:nvPr/>
        </p:nvSpPr>
        <p:spPr>
          <a:xfrm>
            <a:off x="4876678" y="4131945"/>
            <a:ext cx="341367" cy="205739"/>
          </a:xfrm>
          <a:prstGeom prst="rect">
            <a:avLst/>
          </a:prstGeom>
          <a:noFill/>
        </p:spPr>
        <p:txBody>
          <a:bodyPr wrap="square" tIns="0" bIns="0" lIns="0" rIns="0" anchor="t">
            <a:spAutoFit/>
          </a:bodyPr>
          <a:lstStyle/>
          <a:p>
            <a:pPr algn="ctr">
              <a:lnSpc>
                <a:spcPct val="130000"/>
              </a:lnSpc>
            </a:pPr>
            <a:r>
              <a:rPr sz="1100" b="1">
                <a:solidFill>
                  <a:srgbClr val="FFFFFF"/>
                </a:solidFill>
                <a:latin typeface="Nunito"/>
              </a:rPr>
              <a:t>4</a:t>
            </a:r>
          </a:p>
        </p:txBody>
      </p:sp>
      <p:sp>
        <p:nvSpPr>
          <p:cNvPr id="19" name="TextBox 18"/>
          <p:cNvSpPr txBox="1"/>
          <p:nvPr/>
        </p:nvSpPr>
        <p:spPr>
          <a:xfrm>
            <a:off x="5388729" y="4121658"/>
            <a:ext cx="6095847" cy="274320"/>
          </a:xfrm>
          <a:prstGeom prst="rect">
            <a:avLst/>
          </a:prstGeom>
          <a:noFill/>
        </p:spPr>
        <p:txBody>
          <a:bodyPr wrap="square" tIns="0" bIns="0" lIns="0" rIns="0" anchor="t">
            <a:spAutoFit/>
          </a:bodyPr>
          <a:lstStyle/>
          <a:p>
            <a:pPr algn="l">
              <a:lnSpc>
                <a:spcPct val="130000"/>
              </a:lnSpc>
            </a:pPr>
            <a:r>
              <a:rPr sz="1600" b="1">
                <a:solidFill>
                  <a:srgbClr val="F3EFE6"/>
                </a:solidFill>
                <a:latin typeface="Nunito"/>
              </a:rPr>
              <a:t>Snap</a:t>
            </a:r>
          </a:p>
        </p:txBody>
      </p:sp>
      <p:sp>
        <p:nvSpPr>
          <p:cNvPr id="20" name="TextBox 19"/>
          <p:cNvSpPr txBox="1"/>
          <p:nvPr/>
        </p:nvSpPr>
        <p:spPr>
          <a:xfrm>
            <a:off x="5388729" y="4368546"/>
            <a:ext cx="6339681" cy="342900"/>
          </a:xfrm>
          <a:prstGeom prst="rect">
            <a:avLst/>
          </a:prstGeom>
          <a:noFill/>
        </p:spPr>
        <p:txBody>
          <a:bodyPr wrap="square" tIns="0" bIns="0" lIns="0" rIns="0" anchor="t">
            <a:spAutoFit/>
          </a:bodyPr>
          <a:lstStyle/>
          <a:p>
            <a:pPr algn="l">
              <a:lnSpc>
                <a:spcPct val="130000"/>
              </a:lnSpc>
            </a:pPr>
            <a:r>
              <a:rPr sz="1300" b="0">
                <a:solidFill>
                  <a:srgbClr val="B0A899"/>
                </a:solidFill>
                <a:latin typeface="DM Sans"/>
              </a:rPr>
              <a:t>nearest of 48 real colours by CIEDE2000</a:t>
            </a:r>
          </a:p>
        </p:txBody>
      </p:sp>
      <p:sp>
        <p:nvSpPr>
          <p:cNvPr id="21" name="TextBox 20"/>
          <p:cNvSpPr txBox="1"/>
          <p:nvPr/>
        </p:nvSpPr>
        <p:spPr>
          <a:xfrm>
            <a:off x="4876678" y="4694301"/>
            <a:ext cx="341367" cy="205739"/>
          </a:xfrm>
          <a:prstGeom prst="rect">
            <a:avLst/>
          </a:prstGeom>
          <a:noFill/>
        </p:spPr>
        <p:txBody>
          <a:bodyPr wrap="square" tIns="0" bIns="0" lIns="0" rIns="0" anchor="t">
            <a:spAutoFit/>
          </a:bodyPr>
          <a:lstStyle/>
          <a:p>
            <a:pPr algn="ctr">
              <a:lnSpc>
                <a:spcPct val="130000"/>
              </a:lnSpc>
            </a:pPr>
            <a:r>
              <a:rPr sz="1100" b="1">
                <a:solidFill>
                  <a:srgbClr val="FFFFFF"/>
                </a:solidFill>
                <a:latin typeface="Nunito"/>
              </a:rPr>
              <a:t>5</a:t>
            </a:r>
          </a:p>
        </p:txBody>
      </p:sp>
      <p:sp>
        <p:nvSpPr>
          <p:cNvPr id="22" name="TextBox 21"/>
          <p:cNvSpPr txBox="1"/>
          <p:nvPr/>
        </p:nvSpPr>
        <p:spPr>
          <a:xfrm>
            <a:off x="5388729" y="4684014"/>
            <a:ext cx="6095847" cy="274320"/>
          </a:xfrm>
          <a:prstGeom prst="rect">
            <a:avLst/>
          </a:prstGeom>
          <a:noFill/>
        </p:spPr>
        <p:txBody>
          <a:bodyPr wrap="square" tIns="0" bIns="0" lIns="0" rIns="0" anchor="t">
            <a:spAutoFit/>
          </a:bodyPr>
          <a:lstStyle/>
          <a:p>
            <a:pPr algn="l">
              <a:lnSpc>
                <a:spcPct val="130000"/>
              </a:lnSpc>
            </a:pPr>
            <a:r>
              <a:rPr sz="1600" b="1">
                <a:solidFill>
                  <a:srgbClr val="F3EFE6"/>
                </a:solidFill>
                <a:latin typeface="Nunito"/>
              </a:rPr>
              <a:t>Clamp</a:t>
            </a:r>
          </a:p>
        </p:txBody>
      </p:sp>
      <p:sp>
        <p:nvSpPr>
          <p:cNvPr id="23" name="TextBox 22"/>
          <p:cNvSpPr txBox="1"/>
          <p:nvPr/>
        </p:nvSpPr>
        <p:spPr>
          <a:xfrm>
            <a:off x="5388729" y="4930902"/>
            <a:ext cx="6339681" cy="342900"/>
          </a:xfrm>
          <a:prstGeom prst="rect">
            <a:avLst/>
          </a:prstGeom>
          <a:noFill/>
        </p:spPr>
        <p:txBody>
          <a:bodyPr wrap="square" tIns="0" bIns="0" lIns="0" rIns="0" anchor="t">
            <a:spAutoFit/>
          </a:bodyPr>
          <a:lstStyle/>
          <a:p>
            <a:pPr algn="l">
              <a:lnSpc>
                <a:spcPct val="130000"/>
              </a:lnSpc>
            </a:pPr>
            <a:r>
              <a:rPr sz="1300" b="0">
                <a:solidFill>
                  <a:srgbClr val="B0A899"/>
                </a:solidFill>
                <a:latin typeface="DM Sans"/>
              </a:rPr>
              <a:t>to a colour that part was really moulded in</a:t>
            </a:r>
          </a:p>
        </p:txBody>
      </p:sp>
      <p:sp>
        <p:nvSpPr>
          <p:cNvPr id="24" name="TextBox 23"/>
          <p:cNvSpPr txBox="1"/>
          <p:nvPr/>
        </p:nvSpPr>
        <p:spPr>
          <a:xfrm>
            <a:off x="670543" y="5417820"/>
            <a:ext cx="10850608" cy="342900"/>
          </a:xfrm>
          <a:prstGeom prst="rect">
            <a:avLst/>
          </a:prstGeom>
          <a:noFill/>
        </p:spPr>
        <p:txBody>
          <a:bodyPr wrap="square" tIns="0" bIns="0" lIns="0" rIns="0" anchor="t">
            <a:spAutoFit/>
          </a:bodyPr>
          <a:lstStyle/>
          <a:p>
            <a:pPr algn="l">
              <a:lnSpc>
                <a:spcPct val="130000"/>
              </a:lnSpc>
            </a:pPr>
            <a:r>
              <a:rPr sz="1500" b="0">
                <a:solidFill>
                  <a:srgbClr val="E7D3A6"/>
                </a:solidFill>
                <a:latin typeface="DM Sans"/>
              </a:rPr>
              <a:t>Continuous mesh colour → a small set of real, orderable LEGO colours. No invented paint.</a:t>
            </a:r>
          </a:p>
        </p:txBody>
      </p:sp>
      <p:sp>
        <p:nvSpPr>
          <p:cNvPr id="25" name="TextBox 24"/>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9.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C91A09"/>
                </a:solidFill>
                <a:latin typeface="DM Sans"/>
              </a:rPr>
              <a:t>BUILDABLE MEANS ORDERABLE</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Real parts. Real moulds.</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A small vocabulary of actual BrickLink parts → snapped to real colours.</a:t>
            </a:r>
          </a:p>
        </p:txBody>
      </p:sp>
      <p:sp>
        <p:nvSpPr>
          <p:cNvPr id="6" name="TextBox 5"/>
          <p:cNvSpPr txBox="1"/>
          <p:nvPr/>
        </p:nvSpPr>
        <p:spPr>
          <a:xfrm>
            <a:off x="731501" y="3840480"/>
            <a:ext cx="1706837" cy="205739"/>
          </a:xfrm>
          <a:prstGeom prst="rect">
            <a:avLst/>
          </a:prstGeom>
          <a:noFill/>
        </p:spPr>
        <p:txBody>
          <a:bodyPr wrap="square" tIns="0" bIns="0" lIns="0" rIns="0" anchor="t">
            <a:spAutoFit/>
          </a:bodyPr>
          <a:lstStyle/>
          <a:p>
            <a:pPr algn="ctr">
              <a:lnSpc>
                <a:spcPct val="130000"/>
              </a:lnSpc>
            </a:pPr>
            <a:r>
              <a:rPr sz="1300" b="1">
                <a:solidFill>
                  <a:srgbClr val="F3EFE6"/>
                </a:solidFill>
                <a:latin typeface="Nunito"/>
              </a:rPr>
              <a:t>2×4</a:t>
            </a:r>
          </a:p>
        </p:txBody>
      </p:sp>
      <p:sp>
        <p:nvSpPr>
          <p:cNvPr id="7" name="TextBox 6"/>
          <p:cNvSpPr txBox="1"/>
          <p:nvPr/>
        </p:nvSpPr>
        <p:spPr>
          <a:xfrm>
            <a:off x="731501" y="4080509"/>
            <a:ext cx="1706837" cy="205739"/>
          </a:xfrm>
          <a:prstGeom prst="rect">
            <a:avLst/>
          </a:prstGeom>
          <a:noFill/>
        </p:spPr>
        <p:txBody>
          <a:bodyPr wrap="square" tIns="0" bIns="0" lIns="0" rIns="0" anchor="t">
            <a:spAutoFit/>
          </a:bodyPr>
          <a:lstStyle/>
          <a:p>
            <a:pPr algn="ctr">
              <a:lnSpc>
                <a:spcPct val="130000"/>
              </a:lnSpc>
            </a:pPr>
            <a:r>
              <a:rPr sz="1000" b="0">
                <a:solidFill>
                  <a:srgbClr val="B0A899"/>
                </a:solidFill>
                <a:latin typeface="DM Sans"/>
              </a:rPr>
              <a:t>3001</a:t>
            </a:r>
          </a:p>
        </p:txBody>
      </p:sp>
      <p:sp>
        <p:nvSpPr>
          <p:cNvPr id="8" name="TextBox 7"/>
          <p:cNvSpPr txBox="1"/>
          <p:nvPr/>
        </p:nvSpPr>
        <p:spPr>
          <a:xfrm>
            <a:off x="2389572" y="3840480"/>
            <a:ext cx="1706837" cy="205739"/>
          </a:xfrm>
          <a:prstGeom prst="rect">
            <a:avLst/>
          </a:prstGeom>
          <a:noFill/>
        </p:spPr>
        <p:txBody>
          <a:bodyPr wrap="square" tIns="0" bIns="0" lIns="0" rIns="0" anchor="t">
            <a:spAutoFit/>
          </a:bodyPr>
          <a:lstStyle/>
          <a:p>
            <a:pPr algn="ctr">
              <a:lnSpc>
                <a:spcPct val="130000"/>
              </a:lnSpc>
            </a:pPr>
            <a:r>
              <a:rPr sz="1300" b="1">
                <a:solidFill>
                  <a:srgbClr val="F3EFE6"/>
                </a:solidFill>
                <a:latin typeface="Nunito"/>
              </a:rPr>
              <a:t>2×2</a:t>
            </a:r>
          </a:p>
        </p:txBody>
      </p:sp>
      <p:sp>
        <p:nvSpPr>
          <p:cNvPr id="9" name="TextBox 8"/>
          <p:cNvSpPr txBox="1"/>
          <p:nvPr/>
        </p:nvSpPr>
        <p:spPr>
          <a:xfrm>
            <a:off x="2389572" y="4080509"/>
            <a:ext cx="1706837" cy="205739"/>
          </a:xfrm>
          <a:prstGeom prst="rect">
            <a:avLst/>
          </a:prstGeom>
          <a:noFill/>
        </p:spPr>
        <p:txBody>
          <a:bodyPr wrap="square" tIns="0" bIns="0" lIns="0" rIns="0" anchor="t">
            <a:spAutoFit/>
          </a:bodyPr>
          <a:lstStyle/>
          <a:p>
            <a:pPr algn="ctr">
              <a:lnSpc>
                <a:spcPct val="130000"/>
              </a:lnSpc>
            </a:pPr>
            <a:r>
              <a:rPr sz="1000" b="0">
                <a:solidFill>
                  <a:srgbClr val="B0A899"/>
                </a:solidFill>
                <a:latin typeface="DM Sans"/>
              </a:rPr>
              <a:t>3003</a:t>
            </a:r>
          </a:p>
        </p:txBody>
      </p:sp>
      <p:sp>
        <p:nvSpPr>
          <p:cNvPr id="10" name="TextBox 9"/>
          <p:cNvSpPr txBox="1"/>
          <p:nvPr/>
        </p:nvSpPr>
        <p:spPr>
          <a:xfrm>
            <a:off x="4047642" y="3840480"/>
            <a:ext cx="1706837" cy="205739"/>
          </a:xfrm>
          <a:prstGeom prst="rect">
            <a:avLst/>
          </a:prstGeom>
          <a:noFill/>
        </p:spPr>
        <p:txBody>
          <a:bodyPr wrap="square" tIns="0" bIns="0" lIns="0" rIns="0" anchor="t">
            <a:spAutoFit/>
          </a:bodyPr>
          <a:lstStyle/>
          <a:p>
            <a:pPr algn="ctr">
              <a:lnSpc>
                <a:spcPct val="130000"/>
              </a:lnSpc>
            </a:pPr>
            <a:r>
              <a:rPr sz="1300" b="1">
                <a:solidFill>
                  <a:srgbClr val="F3EFE6"/>
                </a:solidFill>
                <a:latin typeface="Nunito"/>
              </a:rPr>
              <a:t>1×2</a:t>
            </a:r>
          </a:p>
        </p:txBody>
      </p:sp>
      <p:sp>
        <p:nvSpPr>
          <p:cNvPr id="11" name="TextBox 10"/>
          <p:cNvSpPr txBox="1"/>
          <p:nvPr/>
        </p:nvSpPr>
        <p:spPr>
          <a:xfrm>
            <a:off x="4047642" y="4080509"/>
            <a:ext cx="1706837" cy="205739"/>
          </a:xfrm>
          <a:prstGeom prst="rect">
            <a:avLst/>
          </a:prstGeom>
          <a:noFill/>
        </p:spPr>
        <p:txBody>
          <a:bodyPr wrap="square" tIns="0" bIns="0" lIns="0" rIns="0" anchor="t">
            <a:spAutoFit/>
          </a:bodyPr>
          <a:lstStyle/>
          <a:p>
            <a:pPr algn="ctr">
              <a:lnSpc>
                <a:spcPct val="130000"/>
              </a:lnSpc>
            </a:pPr>
            <a:r>
              <a:rPr sz="1000" b="0">
                <a:solidFill>
                  <a:srgbClr val="B0A899"/>
                </a:solidFill>
                <a:latin typeface="DM Sans"/>
              </a:rPr>
              <a:t>3004</a:t>
            </a:r>
          </a:p>
        </p:txBody>
      </p:sp>
      <p:sp>
        <p:nvSpPr>
          <p:cNvPr id="12" name="TextBox 11"/>
          <p:cNvSpPr txBox="1"/>
          <p:nvPr/>
        </p:nvSpPr>
        <p:spPr>
          <a:xfrm>
            <a:off x="5705713" y="3840480"/>
            <a:ext cx="1706837" cy="205739"/>
          </a:xfrm>
          <a:prstGeom prst="rect">
            <a:avLst/>
          </a:prstGeom>
          <a:noFill/>
        </p:spPr>
        <p:txBody>
          <a:bodyPr wrap="square" tIns="0" bIns="0" lIns="0" rIns="0" anchor="t">
            <a:spAutoFit/>
          </a:bodyPr>
          <a:lstStyle/>
          <a:p>
            <a:pPr algn="ctr">
              <a:lnSpc>
                <a:spcPct val="130000"/>
              </a:lnSpc>
            </a:pPr>
            <a:r>
              <a:rPr sz="1300" b="1">
                <a:solidFill>
                  <a:srgbClr val="F3EFE6"/>
                </a:solidFill>
                <a:latin typeface="Nunito"/>
              </a:rPr>
              <a:t>1×4</a:t>
            </a:r>
          </a:p>
        </p:txBody>
      </p:sp>
      <p:sp>
        <p:nvSpPr>
          <p:cNvPr id="13" name="TextBox 12"/>
          <p:cNvSpPr txBox="1"/>
          <p:nvPr/>
        </p:nvSpPr>
        <p:spPr>
          <a:xfrm>
            <a:off x="5705713" y="4080509"/>
            <a:ext cx="1706837" cy="205739"/>
          </a:xfrm>
          <a:prstGeom prst="rect">
            <a:avLst/>
          </a:prstGeom>
          <a:noFill/>
        </p:spPr>
        <p:txBody>
          <a:bodyPr wrap="square" tIns="0" bIns="0" lIns="0" rIns="0" anchor="t">
            <a:spAutoFit/>
          </a:bodyPr>
          <a:lstStyle/>
          <a:p>
            <a:pPr algn="ctr">
              <a:lnSpc>
                <a:spcPct val="130000"/>
              </a:lnSpc>
            </a:pPr>
            <a:r>
              <a:rPr sz="1000" b="0">
                <a:solidFill>
                  <a:srgbClr val="B0A899"/>
                </a:solidFill>
                <a:latin typeface="DM Sans"/>
              </a:rPr>
              <a:t>3010</a:t>
            </a:r>
          </a:p>
        </p:txBody>
      </p:sp>
      <p:sp>
        <p:nvSpPr>
          <p:cNvPr id="14" name="TextBox 13"/>
          <p:cNvSpPr txBox="1"/>
          <p:nvPr/>
        </p:nvSpPr>
        <p:spPr>
          <a:xfrm>
            <a:off x="7363783" y="3840480"/>
            <a:ext cx="1706837" cy="205739"/>
          </a:xfrm>
          <a:prstGeom prst="rect">
            <a:avLst/>
          </a:prstGeom>
          <a:noFill/>
        </p:spPr>
        <p:txBody>
          <a:bodyPr wrap="square" tIns="0" bIns="0" lIns="0" rIns="0" anchor="t">
            <a:spAutoFit/>
          </a:bodyPr>
          <a:lstStyle/>
          <a:p>
            <a:pPr algn="ctr">
              <a:lnSpc>
                <a:spcPct val="130000"/>
              </a:lnSpc>
            </a:pPr>
            <a:r>
              <a:rPr sz="1300" b="1">
                <a:solidFill>
                  <a:srgbClr val="F3EFE6"/>
                </a:solidFill>
                <a:latin typeface="Nunito"/>
              </a:rPr>
              <a:t>1×1</a:t>
            </a:r>
          </a:p>
        </p:txBody>
      </p:sp>
      <p:sp>
        <p:nvSpPr>
          <p:cNvPr id="15" name="TextBox 14"/>
          <p:cNvSpPr txBox="1"/>
          <p:nvPr/>
        </p:nvSpPr>
        <p:spPr>
          <a:xfrm>
            <a:off x="7363783" y="4080509"/>
            <a:ext cx="1706837" cy="205739"/>
          </a:xfrm>
          <a:prstGeom prst="rect">
            <a:avLst/>
          </a:prstGeom>
          <a:noFill/>
        </p:spPr>
        <p:txBody>
          <a:bodyPr wrap="square" tIns="0" bIns="0" lIns="0" rIns="0" anchor="t">
            <a:spAutoFit/>
          </a:bodyPr>
          <a:lstStyle/>
          <a:p>
            <a:pPr algn="ctr">
              <a:lnSpc>
                <a:spcPct val="130000"/>
              </a:lnSpc>
            </a:pPr>
            <a:r>
              <a:rPr sz="1000" b="0">
                <a:solidFill>
                  <a:srgbClr val="B0A899"/>
                </a:solidFill>
                <a:latin typeface="DM Sans"/>
              </a:rPr>
              <a:t>3005</a:t>
            </a:r>
          </a:p>
        </p:txBody>
      </p:sp>
      <p:sp>
        <p:nvSpPr>
          <p:cNvPr id="16" name="TextBox 15"/>
          <p:cNvSpPr txBox="1"/>
          <p:nvPr/>
        </p:nvSpPr>
        <p:spPr>
          <a:xfrm>
            <a:off x="9021854" y="3840480"/>
            <a:ext cx="1706837" cy="205739"/>
          </a:xfrm>
          <a:prstGeom prst="rect">
            <a:avLst/>
          </a:prstGeom>
          <a:noFill/>
        </p:spPr>
        <p:txBody>
          <a:bodyPr wrap="square" tIns="0" bIns="0" lIns="0" rIns="0" anchor="t">
            <a:spAutoFit/>
          </a:bodyPr>
          <a:lstStyle/>
          <a:p>
            <a:pPr algn="ctr">
              <a:lnSpc>
                <a:spcPct val="130000"/>
              </a:lnSpc>
            </a:pPr>
            <a:r>
              <a:rPr sz="1300" b="1">
                <a:solidFill>
                  <a:srgbClr val="F3EFE6"/>
                </a:solidFill>
                <a:latin typeface="Nunito"/>
              </a:rPr>
              <a:t>slope</a:t>
            </a:r>
          </a:p>
        </p:txBody>
      </p:sp>
      <p:sp>
        <p:nvSpPr>
          <p:cNvPr id="17" name="TextBox 16"/>
          <p:cNvSpPr txBox="1"/>
          <p:nvPr/>
        </p:nvSpPr>
        <p:spPr>
          <a:xfrm>
            <a:off x="9021854" y="4080509"/>
            <a:ext cx="1706837" cy="205739"/>
          </a:xfrm>
          <a:prstGeom prst="rect">
            <a:avLst/>
          </a:prstGeom>
          <a:noFill/>
        </p:spPr>
        <p:txBody>
          <a:bodyPr wrap="square" tIns="0" bIns="0" lIns="0" rIns="0" anchor="t">
            <a:spAutoFit/>
          </a:bodyPr>
          <a:lstStyle/>
          <a:p>
            <a:pPr algn="ctr">
              <a:lnSpc>
                <a:spcPct val="130000"/>
              </a:lnSpc>
            </a:pPr>
            <a:r>
              <a:rPr sz="1000" b="0">
                <a:solidFill>
                  <a:srgbClr val="B0A899"/>
                </a:solidFill>
                <a:latin typeface="DM Sans"/>
              </a:rPr>
              <a:t>3040</a:t>
            </a:r>
          </a:p>
        </p:txBody>
      </p:sp>
      <p:sp>
        <p:nvSpPr>
          <p:cNvPr id="18" name="TextBox 17"/>
          <p:cNvSpPr txBox="1"/>
          <p:nvPr/>
        </p:nvSpPr>
        <p:spPr>
          <a:xfrm>
            <a:off x="670543" y="5314950"/>
            <a:ext cx="6095847" cy="274320"/>
          </a:xfrm>
          <a:prstGeom prst="rect">
            <a:avLst/>
          </a:prstGeom>
          <a:noFill/>
        </p:spPr>
        <p:txBody>
          <a:bodyPr wrap="square" tIns="0" bIns="0" lIns="0" rIns="0" anchor="t">
            <a:spAutoFit/>
          </a:bodyPr>
          <a:lstStyle/>
          <a:p>
            <a:pPr algn="l">
              <a:lnSpc>
                <a:spcPct val="130000"/>
              </a:lnSpc>
            </a:pPr>
            <a:r>
              <a:rPr sz="1400" b="0">
                <a:solidFill>
                  <a:srgbClr val="E7D3A6"/>
                </a:solidFill>
                <a:latin typeface="DM Sans"/>
              </a:rPr>
              <a:t>48 real LEGO colours</a:t>
            </a:r>
          </a:p>
        </p:txBody>
      </p:sp>
      <p:sp>
        <p:nvSpPr>
          <p:cNvPr id="19" name="TextBox 18"/>
          <p:cNvSpPr txBox="1"/>
          <p:nvPr/>
        </p:nvSpPr>
        <p:spPr>
          <a:xfrm>
            <a:off x="7315017" y="4766309"/>
            <a:ext cx="2194505" cy="411479"/>
          </a:xfrm>
          <a:prstGeom prst="rect">
            <a:avLst/>
          </a:prstGeom>
          <a:noFill/>
        </p:spPr>
        <p:txBody>
          <a:bodyPr wrap="square" tIns="0" bIns="0" lIns="0" rIns="0" anchor="t">
            <a:spAutoFit/>
          </a:bodyPr>
          <a:lstStyle/>
          <a:p>
            <a:pPr algn="l">
              <a:lnSpc>
                <a:spcPct val="130000"/>
              </a:lnSpc>
            </a:pPr>
            <a:r>
              <a:rPr sz="4000" b="1">
                <a:solidFill>
                  <a:srgbClr val="F3EFE6"/>
                </a:solidFill>
                <a:latin typeface="Nunito"/>
              </a:rPr>
              <a:t>44</a:t>
            </a:r>
          </a:p>
        </p:txBody>
      </p:sp>
      <p:sp>
        <p:nvSpPr>
          <p:cNvPr id="20" name="TextBox 19"/>
          <p:cNvSpPr txBox="1"/>
          <p:nvPr/>
        </p:nvSpPr>
        <p:spPr>
          <a:xfrm>
            <a:off x="7315017" y="5383530"/>
            <a:ext cx="2438339" cy="274320"/>
          </a:xfrm>
          <a:prstGeom prst="rect">
            <a:avLst/>
          </a:prstGeom>
          <a:noFill/>
        </p:spPr>
        <p:txBody>
          <a:bodyPr wrap="square" tIns="0" bIns="0" lIns="0" rIns="0" anchor="t">
            <a:spAutoFit/>
          </a:bodyPr>
          <a:lstStyle/>
          <a:p>
            <a:pPr algn="l">
              <a:lnSpc>
                <a:spcPct val="130000"/>
              </a:lnSpc>
            </a:pPr>
            <a:r>
              <a:rPr sz="1300" b="0">
                <a:solidFill>
                  <a:srgbClr val="C91A09"/>
                </a:solidFill>
                <a:latin typeface="DM Sans"/>
              </a:rPr>
              <a:t>real parts</a:t>
            </a:r>
          </a:p>
        </p:txBody>
      </p:sp>
      <p:sp>
        <p:nvSpPr>
          <p:cNvPr id="21" name="TextBox 20"/>
          <p:cNvSpPr txBox="1"/>
          <p:nvPr/>
        </p:nvSpPr>
        <p:spPr>
          <a:xfrm>
            <a:off x="9448563" y="4766309"/>
            <a:ext cx="2438339" cy="411479"/>
          </a:xfrm>
          <a:prstGeom prst="rect">
            <a:avLst/>
          </a:prstGeom>
          <a:noFill/>
        </p:spPr>
        <p:txBody>
          <a:bodyPr wrap="square" tIns="0" bIns="0" lIns="0" rIns="0" anchor="t">
            <a:spAutoFit/>
          </a:bodyPr>
          <a:lstStyle/>
          <a:p>
            <a:pPr algn="l">
              <a:lnSpc>
                <a:spcPct val="130000"/>
              </a:lnSpc>
            </a:pPr>
            <a:r>
              <a:rPr sz="4000" b="1">
                <a:solidFill>
                  <a:srgbClr val="F3EFE6"/>
                </a:solidFill>
                <a:latin typeface="Nunito"/>
              </a:rPr>
              <a:t>1,598</a:t>
            </a:r>
          </a:p>
        </p:txBody>
      </p:sp>
      <p:sp>
        <p:nvSpPr>
          <p:cNvPr id="22" name="TextBox 21"/>
          <p:cNvSpPr txBox="1"/>
          <p:nvPr/>
        </p:nvSpPr>
        <p:spPr>
          <a:xfrm>
            <a:off x="9448563" y="5383530"/>
            <a:ext cx="2438339" cy="274320"/>
          </a:xfrm>
          <a:prstGeom prst="rect">
            <a:avLst/>
          </a:prstGeom>
          <a:noFill/>
        </p:spPr>
        <p:txBody>
          <a:bodyPr wrap="square" tIns="0" bIns="0" lIns="0" rIns="0" anchor="t">
            <a:spAutoFit/>
          </a:bodyPr>
          <a:lstStyle/>
          <a:p>
            <a:pPr algn="l">
              <a:lnSpc>
                <a:spcPct val="130000"/>
              </a:lnSpc>
            </a:pPr>
            <a:r>
              <a:rPr sz="1300" b="0">
                <a:solidFill>
                  <a:srgbClr val="C91A09"/>
                </a:solidFill>
                <a:latin typeface="DM Sans"/>
              </a:rPr>
              <a:t>validated combos</a:t>
            </a:r>
          </a:p>
        </p:txBody>
      </p:sp>
      <p:sp>
        <p:nvSpPr>
          <p:cNvPr id="23" name="TextBox 22"/>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0.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B8890A"/>
                </a:solidFill>
                <a:latin typeface="DM Sans"/>
              </a:rPr>
              <a:t>WE TESTED THIS</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The look lives in the LoRA.</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Same prompt, same seed → only the LoRA strength changes.</a:t>
            </a:r>
          </a:p>
        </p:txBody>
      </p:sp>
      <p:sp>
        <p:nvSpPr>
          <p:cNvPr id="6" name="TextBox 5"/>
          <p:cNvSpPr txBox="1"/>
          <p:nvPr/>
        </p:nvSpPr>
        <p:spPr>
          <a:xfrm>
            <a:off x="2072588" y="2263140"/>
            <a:ext cx="1670262" cy="274320"/>
          </a:xfrm>
          <a:prstGeom prst="rect">
            <a:avLst/>
          </a:prstGeom>
          <a:noFill/>
        </p:spPr>
        <p:txBody>
          <a:bodyPr wrap="square" tIns="0" bIns="0" lIns="0" rIns="0" anchor="t">
            <a:spAutoFit/>
          </a:bodyPr>
          <a:lstStyle/>
          <a:p>
            <a:pPr algn="ctr">
              <a:lnSpc>
                <a:spcPct val="130000"/>
              </a:lnSpc>
            </a:pPr>
            <a:r>
              <a:rPr sz="1400" b="1">
                <a:solidFill>
                  <a:srgbClr val="F3EFE6"/>
                </a:solidFill>
                <a:latin typeface="Nunito"/>
              </a:rPr>
              <a:t>LoRA 0</a:t>
            </a:r>
          </a:p>
        </p:txBody>
      </p:sp>
      <p:sp>
        <p:nvSpPr>
          <p:cNvPr id="7" name="TextBox 6"/>
          <p:cNvSpPr txBox="1"/>
          <p:nvPr/>
        </p:nvSpPr>
        <p:spPr>
          <a:xfrm>
            <a:off x="3876959" y="2263140"/>
            <a:ext cx="1670262" cy="274320"/>
          </a:xfrm>
          <a:prstGeom prst="rect">
            <a:avLst/>
          </a:prstGeom>
          <a:noFill/>
        </p:spPr>
        <p:txBody>
          <a:bodyPr wrap="square" tIns="0" bIns="0" lIns="0" rIns="0" anchor="t">
            <a:spAutoFit/>
          </a:bodyPr>
          <a:lstStyle/>
          <a:p>
            <a:pPr algn="ctr">
              <a:lnSpc>
                <a:spcPct val="130000"/>
              </a:lnSpc>
            </a:pPr>
            <a:r>
              <a:rPr sz="1400" b="1">
                <a:solidFill>
                  <a:srgbClr val="F3EFE6"/>
                </a:solidFill>
                <a:latin typeface="Nunito"/>
              </a:rPr>
              <a:t>LoRA 0.5</a:t>
            </a:r>
          </a:p>
        </p:txBody>
      </p:sp>
      <p:sp>
        <p:nvSpPr>
          <p:cNvPr id="8" name="TextBox 7"/>
          <p:cNvSpPr txBox="1"/>
          <p:nvPr/>
        </p:nvSpPr>
        <p:spPr>
          <a:xfrm>
            <a:off x="5681329" y="2263140"/>
            <a:ext cx="1670262" cy="274320"/>
          </a:xfrm>
          <a:prstGeom prst="rect">
            <a:avLst/>
          </a:prstGeom>
          <a:noFill/>
        </p:spPr>
        <p:txBody>
          <a:bodyPr wrap="square" tIns="0" bIns="0" lIns="0" rIns="0" anchor="t">
            <a:spAutoFit/>
          </a:bodyPr>
          <a:lstStyle/>
          <a:p>
            <a:pPr algn="ctr">
              <a:lnSpc>
                <a:spcPct val="130000"/>
              </a:lnSpc>
            </a:pPr>
            <a:r>
              <a:rPr sz="1400" b="1">
                <a:solidFill>
                  <a:srgbClr val="B8890A"/>
                </a:solidFill>
                <a:latin typeface="Nunito"/>
              </a:rPr>
              <a:t>LoRA 1.0</a:t>
            </a:r>
          </a:p>
        </p:txBody>
      </p:sp>
      <p:sp>
        <p:nvSpPr>
          <p:cNvPr id="9" name="TextBox 8"/>
          <p:cNvSpPr txBox="1"/>
          <p:nvPr/>
        </p:nvSpPr>
        <p:spPr>
          <a:xfrm>
            <a:off x="670543" y="3235452"/>
            <a:ext cx="1280127" cy="342900"/>
          </a:xfrm>
          <a:prstGeom prst="rect">
            <a:avLst/>
          </a:prstGeom>
          <a:noFill/>
        </p:spPr>
        <p:txBody>
          <a:bodyPr wrap="square" tIns="0" bIns="0" lIns="0" rIns="0" anchor="t">
            <a:spAutoFit/>
          </a:bodyPr>
          <a:lstStyle/>
          <a:p>
            <a:pPr algn="l">
              <a:lnSpc>
                <a:spcPct val="130000"/>
              </a:lnSpc>
            </a:pPr>
            <a:r>
              <a:rPr sz="1500" b="1">
                <a:solidFill>
                  <a:srgbClr val="E7D3A6"/>
                </a:solidFill>
                <a:latin typeface="Nunito"/>
              </a:rPr>
              <a:t>Sagrada</a:t>
            </a:r>
          </a:p>
        </p:txBody>
      </p:sp>
      <p:sp>
        <p:nvSpPr>
          <p:cNvPr id="10" name="TextBox 9"/>
          <p:cNvSpPr txBox="1"/>
          <p:nvPr/>
        </p:nvSpPr>
        <p:spPr>
          <a:xfrm>
            <a:off x="670543" y="4744211"/>
            <a:ext cx="1280127" cy="342900"/>
          </a:xfrm>
          <a:prstGeom prst="rect">
            <a:avLst/>
          </a:prstGeom>
          <a:noFill/>
        </p:spPr>
        <p:txBody>
          <a:bodyPr wrap="square" tIns="0" bIns="0" lIns="0" rIns="0" anchor="t">
            <a:spAutoFit/>
          </a:bodyPr>
          <a:lstStyle/>
          <a:p>
            <a:pPr algn="l">
              <a:lnSpc>
                <a:spcPct val="130000"/>
              </a:lnSpc>
            </a:pPr>
            <a:r>
              <a:rPr sz="1500" b="1">
                <a:solidFill>
                  <a:srgbClr val="E7D3A6"/>
                </a:solidFill>
                <a:latin typeface="Nunito"/>
              </a:rPr>
              <a:t>La Muralla</a:t>
            </a:r>
          </a:p>
        </p:txBody>
      </p:sp>
      <p:sp>
        <p:nvSpPr>
          <p:cNvPr id="11" name="TextBox 10"/>
          <p:cNvSpPr txBox="1"/>
          <p:nvPr/>
        </p:nvSpPr>
        <p:spPr>
          <a:xfrm>
            <a:off x="5681329" y="5743956"/>
            <a:ext cx="1670262" cy="205739"/>
          </a:xfrm>
          <a:prstGeom prst="rect">
            <a:avLst/>
          </a:prstGeom>
          <a:noFill/>
        </p:spPr>
        <p:txBody>
          <a:bodyPr wrap="square" tIns="0" bIns="0" lIns="0" rIns="0" anchor="t">
            <a:spAutoFit/>
          </a:bodyPr>
          <a:lstStyle/>
          <a:p>
            <a:pPr algn="ctr">
              <a:lnSpc>
                <a:spcPct val="130000"/>
              </a:lnSpc>
            </a:pPr>
            <a:r>
              <a:rPr sz="1100" b="1">
                <a:solidFill>
                  <a:srgbClr val="B8890A"/>
                </a:solidFill>
                <a:latin typeface="DM Sans"/>
              </a:rPr>
              <a:t>winner</a:t>
            </a:r>
          </a:p>
        </p:txBody>
      </p:sp>
      <p:sp>
        <p:nvSpPr>
          <p:cNvPr id="12" name="TextBox 11"/>
          <p:cNvSpPr txBox="1"/>
          <p:nvPr/>
        </p:nvSpPr>
        <p:spPr>
          <a:xfrm>
            <a:off x="7558851" y="2537460"/>
            <a:ext cx="4023259" cy="342900"/>
          </a:xfrm>
          <a:prstGeom prst="rect">
            <a:avLst/>
          </a:prstGeom>
          <a:noFill/>
        </p:spPr>
        <p:txBody>
          <a:bodyPr wrap="square" tIns="0" bIns="0" lIns="0" rIns="0" anchor="t">
            <a:spAutoFit/>
          </a:bodyPr>
          <a:lstStyle/>
          <a:p>
            <a:pPr algn="l">
              <a:lnSpc>
                <a:spcPct val="130000"/>
              </a:lnSpc>
            </a:pPr>
            <a:r>
              <a:rPr sz="2400" b="1">
                <a:solidFill>
                  <a:srgbClr val="F3EFE6"/>
                </a:solidFill>
                <a:latin typeface="Nunito"/>
              </a:rPr>
              <a:t>0 → 0.5 → 1.0</a:t>
            </a:r>
          </a:p>
        </p:txBody>
      </p:sp>
      <p:sp>
        <p:nvSpPr>
          <p:cNvPr id="13" name="TextBox 12"/>
          <p:cNvSpPr txBox="1"/>
          <p:nvPr/>
        </p:nvSpPr>
        <p:spPr>
          <a:xfrm>
            <a:off x="7558851" y="3017520"/>
            <a:ext cx="4023259" cy="1371600"/>
          </a:xfrm>
          <a:prstGeom prst="rect">
            <a:avLst/>
          </a:prstGeom>
          <a:noFill/>
        </p:spPr>
        <p:txBody>
          <a:bodyPr wrap="square" tIns="0" bIns="0" lIns="0" rIns="0" anchor="t">
            <a:spAutoFit/>
          </a:bodyPr>
          <a:lstStyle/>
          <a:p>
            <a:pPr algn="l">
              <a:lnSpc>
                <a:spcPct val="150000"/>
              </a:lnSpc>
            </a:pPr>
            <a:r>
              <a:rPr sz="1700" b="0">
                <a:solidFill>
                  <a:srgbClr val="E7D3A6"/>
                </a:solidFill>
                <a:latin typeface="DM Sans"/>
              </a:rPr>
              <a:t>At 0 it's a plain building. At 1 the studs and seams snap in → on a landmark and an obscure block alike.</a:t>
            </a:r>
          </a:p>
        </p:txBody>
      </p:sp>
      <p:sp>
        <p:nvSpPr>
          <p:cNvPr id="14" name="TextBox 13"/>
          <p:cNvSpPr txBox="1"/>
          <p:nvPr/>
        </p:nvSpPr>
        <p:spPr>
          <a:xfrm>
            <a:off x="7558851" y="4457700"/>
            <a:ext cx="4023259" cy="342900"/>
          </a:xfrm>
          <a:prstGeom prst="rect">
            <a:avLst/>
          </a:prstGeom>
          <a:noFill/>
        </p:spPr>
        <p:txBody>
          <a:bodyPr wrap="square" tIns="0" bIns="0" lIns="0" rIns="0" anchor="t">
            <a:spAutoFit/>
          </a:bodyPr>
          <a:lstStyle/>
          <a:p>
            <a:pPr algn="l">
              <a:lnSpc>
                <a:spcPct val="130000"/>
              </a:lnSpc>
            </a:pPr>
            <a:r>
              <a:rPr sz="1500" b="0">
                <a:solidFill>
                  <a:srgbClr val="F3EFE6"/>
                </a:solidFill>
                <a:latin typeface="DM Sans"/>
              </a:rPr>
              <a:t>The LEGO look isn't the prompt. It's the fine-tune.</a:t>
            </a:r>
          </a:p>
        </p:txBody>
      </p:sp>
      <p:sp>
        <p:nvSpPr>
          <p:cNvPr id="15" name="TextBox 14"/>
          <p:cNvSpPr txBox="1"/>
          <p:nvPr/>
        </p:nvSpPr>
        <p:spPr>
          <a:xfrm>
            <a:off x="7558851" y="4869179"/>
            <a:ext cx="4023259" cy="274320"/>
          </a:xfrm>
          <a:prstGeom prst="rect">
            <a:avLst/>
          </a:prstGeom>
          <a:noFill/>
        </p:spPr>
        <p:txBody>
          <a:bodyPr wrap="square" tIns="0" bIns="0" lIns="0" rIns="0" anchor="t">
            <a:spAutoFit/>
          </a:bodyPr>
          <a:lstStyle/>
          <a:p>
            <a:pPr algn="l">
              <a:lnSpc>
                <a:spcPct val="130000"/>
              </a:lnSpc>
            </a:pPr>
            <a:r>
              <a:rPr sz="1200" b="0">
                <a:solidFill>
                  <a:srgbClr val="B0A899"/>
                </a:solidFill>
                <a:latin typeface="DM Sans"/>
              </a:rPr>
              <a:t>swept 0 → 1.5 · winner 1.0</a:t>
            </a:r>
          </a:p>
        </p:txBody>
      </p:sp>
      <p:sp>
        <p:nvSpPr>
          <p:cNvPr id="16" name="TextBox 15"/>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B8890A"/>
                </a:solidFill>
                <a:latin typeface="DM Sans"/>
              </a:rPr>
              <a:t>WE TESTED THIS</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Same building, −46% bricks.</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Raw mesh colour speckles into thousands of 1×1s → we merge it to the true colour first.</a:t>
            </a:r>
          </a:p>
        </p:txBody>
      </p:sp>
      <p:sp>
        <p:nvSpPr>
          <p:cNvPr id="6" name="TextBox 5"/>
          <p:cNvSpPr txBox="1"/>
          <p:nvPr/>
        </p:nvSpPr>
        <p:spPr>
          <a:xfrm>
            <a:off x="670543" y="4903470"/>
            <a:ext cx="4145176" cy="274320"/>
          </a:xfrm>
          <a:prstGeom prst="rect">
            <a:avLst/>
          </a:prstGeom>
          <a:noFill/>
        </p:spPr>
        <p:txBody>
          <a:bodyPr wrap="square" tIns="0" bIns="0" lIns="0" rIns="0" anchor="t">
            <a:spAutoFit/>
          </a:bodyPr>
          <a:lstStyle/>
          <a:p>
            <a:pPr algn="l">
              <a:lnSpc>
                <a:spcPct val="130000"/>
              </a:lnSpc>
            </a:pPr>
            <a:r>
              <a:rPr sz="1150" b="0">
                <a:solidFill>
                  <a:srgbClr val="B0A899"/>
                </a:solidFill>
                <a:latin typeface="DM Sans"/>
              </a:rPr>
              <a:t>real build → raw colour grid → merged to true colour</a:t>
            </a:r>
          </a:p>
        </p:txBody>
      </p:sp>
      <p:sp>
        <p:nvSpPr>
          <p:cNvPr id="7" name="TextBox 6"/>
          <p:cNvSpPr txBox="1"/>
          <p:nvPr/>
        </p:nvSpPr>
        <p:spPr>
          <a:xfrm>
            <a:off x="5303387" y="2132837"/>
            <a:ext cx="2011629" cy="205739"/>
          </a:xfrm>
          <a:prstGeom prst="rect">
            <a:avLst/>
          </a:prstGeom>
          <a:noFill/>
        </p:spPr>
        <p:txBody>
          <a:bodyPr wrap="square" tIns="0" bIns="0" lIns="0" rIns="0" anchor="t">
            <a:spAutoFit/>
          </a:bodyPr>
          <a:lstStyle/>
          <a:p>
            <a:pPr algn="ctr">
              <a:lnSpc>
                <a:spcPct val="130000"/>
              </a:lnSpc>
            </a:pPr>
            <a:r>
              <a:rPr sz="1100" b="0">
                <a:solidFill>
                  <a:srgbClr val="B0A899"/>
                </a:solidFill>
                <a:latin typeface="DM Sans"/>
              </a:rPr>
              <a:t>1×1 speckle</a:t>
            </a:r>
          </a:p>
        </p:txBody>
      </p:sp>
      <p:sp>
        <p:nvSpPr>
          <p:cNvPr id="8" name="TextBox 7"/>
          <p:cNvSpPr txBox="1"/>
          <p:nvPr/>
        </p:nvSpPr>
        <p:spPr>
          <a:xfrm>
            <a:off x="5303387" y="4855464"/>
            <a:ext cx="2011629" cy="205739"/>
          </a:xfrm>
          <a:prstGeom prst="rect">
            <a:avLst/>
          </a:prstGeom>
          <a:noFill/>
        </p:spPr>
        <p:txBody>
          <a:bodyPr wrap="square" tIns="0" bIns="0" lIns="0" rIns="0" anchor="t">
            <a:spAutoFit/>
          </a:bodyPr>
          <a:lstStyle/>
          <a:p>
            <a:pPr algn="ctr">
              <a:lnSpc>
                <a:spcPct val="130000"/>
              </a:lnSpc>
            </a:pPr>
            <a:r>
              <a:rPr sz="1100" b="0">
                <a:solidFill>
                  <a:srgbClr val="E7D3A6"/>
                </a:solidFill>
                <a:latin typeface="DM Sans"/>
              </a:rPr>
              <a:t>merged regions</a:t>
            </a:r>
          </a:p>
        </p:txBody>
      </p:sp>
      <p:sp>
        <p:nvSpPr>
          <p:cNvPr id="9" name="TextBox 8"/>
          <p:cNvSpPr txBox="1"/>
          <p:nvPr/>
        </p:nvSpPr>
        <p:spPr>
          <a:xfrm>
            <a:off x="7863643" y="2366010"/>
            <a:ext cx="3657508" cy="308609"/>
          </a:xfrm>
          <a:prstGeom prst="rect">
            <a:avLst/>
          </a:prstGeom>
          <a:noFill/>
        </p:spPr>
        <p:txBody>
          <a:bodyPr wrap="square" tIns="0" bIns="0" lIns="0" rIns="0" anchor="t">
            <a:spAutoFit/>
          </a:bodyPr>
          <a:lstStyle/>
          <a:p>
            <a:pPr algn="l">
              <a:lnSpc>
                <a:spcPct val="130000"/>
              </a:lnSpc>
            </a:pPr>
            <a:r>
              <a:rPr sz="1200" b="1">
                <a:solidFill>
                  <a:srgbClr val="E7D3A6"/>
                </a:solidFill>
                <a:latin typeface="DM Sans"/>
              </a:rPr>
              <a:t>SAGRADA FAMÍLIA</a:t>
            </a:r>
          </a:p>
        </p:txBody>
      </p:sp>
      <p:sp>
        <p:nvSpPr>
          <p:cNvPr id="10" name="TextBox 9"/>
          <p:cNvSpPr txBox="1"/>
          <p:nvPr/>
        </p:nvSpPr>
        <p:spPr>
          <a:xfrm>
            <a:off x="7766109" y="2606040"/>
            <a:ext cx="3779425" cy="960120"/>
          </a:xfrm>
          <a:prstGeom prst="rect">
            <a:avLst/>
          </a:prstGeom>
          <a:noFill/>
        </p:spPr>
        <p:txBody>
          <a:bodyPr wrap="square" tIns="0" bIns="0" lIns="0" rIns="0" anchor="t">
            <a:spAutoFit/>
          </a:bodyPr>
          <a:lstStyle/>
          <a:p>
            <a:pPr algn="l">
              <a:lnSpc>
                <a:spcPct val="130000"/>
              </a:lnSpc>
            </a:pPr>
            <a:r>
              <a:rPr sz="8000" b="1">
                <a:solidFill>
                  <a:srgbClr val="F6C700"/>
                </a:solidFill>
                <a:latin typeface="Nunito"/>
              </a:rPr>
              <a:t>−46%</a:t>
            </a:r>
          </a:p>
        </p:txBody>
      </p:sp>
      <p:sp>
        <p:nvSpPr>
          <p:cNvPr id="11" name="TextBox 10"/>
          <p:cNvSpPr txBox="1"/>
          <p:nvPr/>
        </p:nvSpPr>
        <p:spPr>
          <a:xfrm>
            <a:off x="7863643" y="3737610"/>
            <a:ext cx="3657508" cy="342900"/>
          </a:xfrm>
          <a:prstGeom prst="rect">
            <a:avLst/>
          </a:prstGeom>
          <a:noFill/>
        </p:spPr>
        <p:txBody>
          <a:bodyPr wrap="square" tIns="0" bIns="0" lIns="0" rIns="0" anchor="t">
            <a:spAutoFit/>
          </a:bodyPr>
          <a:lstStyle/>
          <a:p>
            <a:pPr algn="l">
              <a:lnSpc>
                <a:spcPct val="130000"/>
              </a:lnSpc>
            </a:pPr>
            <a:r>
              <a:rPr sz="1800" b="1">
                <a:solidFill>
                  <a:srgbClr val="F3EFE6"/>
                </a:solidFill>
                <a:latin typeface="DM Sans"/>
              </a:rPr>
              <a:t>8,627 → 4,682 pieces</a:t>
            </a:r>
          </a:p>
        </p:txBody>
      </p:sp>
      <p:sp>
        <p:nvSpPr>
          <p:cNvPr id="12" name="TextBox 11"/>
          <p:cNvSpPr txBox="1"/>
          <p:nvPr/>
        </p:nvSpPr>
        <p:spPr>
          <a:xfrm>
            <a:off x="8034327" y="4382262"/>
            <a:ext cx="3316141" cy="342900"/>
          </a:xfrm>
          <a:prstGeom prst="rect">
            <a:avLst/>
          </a:prstGeom>
          <a:noFill/>
        </p:spPr>
        <p:txBody>
          <a:bodyPr wrap="square" tIns="0" bIns="0" lIns="0" rIns="0" anchor="t">
            <a:spAutoFit/>
          </a:bodyPr>
          <a:lstStyle/>
          <a:p>
            <a:pPr algn="l">
              <a:lnSpc>
                <a:spcPct val="130000"/>
              </a:lnSpc>
            </a:pPr>
            <a:r>
              <a:rPr sz="1100" b="1">
                <a:solidFill>
                  <a:srgbClr val="B8890A"/>
                </a:solidFill>
                <a:latin typeface="DM Sans"/>
              </a:rPr>
              <a:t>WHY FEWER IS BETTER</a:t>
            </a:r>
          </a:p>
        </p:txBody>
      </p:sp>
      <p:sp>
        <p:nvSpPr>
          <p:cNvPr id="13" name="TextBox 12"/>
          <p:cNvSpPr txBox="1"/>
          <p:nvPr/>
        </p:nvSpPr>
        <p:spPr>
          <a:xfrm>
            <a:off x="8034327" y="4588002"/>
            <a:ext cx="3316141" cy="308609"/>
          </a:xfrm>
          <a:prstGeom prst="rect">
            <a:avLst/>
          </a:prstGeom>
          <a:noFill/>
        </p:spPr>
        <p:txBody>
          <a:bodyPr wrap="square" tIns="0" bIns="0" lIns="0" rIns="0" anchor="t">
            <a:spAutoFit/>
          </a:bodyPr>
          <a:lstStyle/>
          <a:p>
            <a:pPr algn="l">
              <a:lnSpc>
                <a:spcPct val="112000"/>
              </a:lnSpc>
            </a:pPr>
            <a:r>
              <a:rPr sz="1500" b="0">
                <a:solidFill>
                  <a:srgbClr val="34302A"/>
                </a:solidFill>
                <a:latin typeface="DM Sans"/>
              </a:rPr>
              <a:t>cheaper · simpler to build · same stability</a:t>
            </a:r>
          </a:p>
        </p:txBody>
      </p:sp>
      <p:sp>
        <p:nvSpPr>
          <p:cNvPr id="14" name="TextBox 13"/>
          <p:cNvSpPr txBox="1"/>
          <p:nvPr/>
        </p:nvSpPr>
        <p:spPr>
          <a:xfrm>
            <a:off x="7863643" y="5177790"/>
            <a:ext cx="3657508" cy="274320"/>
          </a:xfrm>
          <a:prstGeom prst="rect">
            <a:avLst/>
          </a:prstGeom>
          <a:noFill/>
        </p:spPr>
        <p:txBody>
          <a:bodyPr wrap="square" tIns="0" bIns="0" lIns="0" rIns="0" anchor="t">
            <a:spAutoFit/>
          </a:bodyPr>
          <a:lstStyle/>
          <a:p>
            <a:pPr algn="l">
              <a:lnSpc>
                <a:spcPct val="130000"/>
              </a:lnSpc>
            </a:pPr>
            <a:r>
              <a:rPr sz="1300" b="0">
                <a:solidFill>
                  <a:srgbClr val="B0A899"/>
                </a:solidFill>
                <a:latin typeface="DM Sans"/>
              </a:rPr>
              <a:t>holds across buildings → −19% to −46%</a:t>
            </a:r>
          </a:p>
        </p:txBody>
      </p:sp>
      <p:sp>
        <p:nvSpPr>
          <p:cNvPr id="15" name="TextBox 14"/>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2.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B8890A"/>
                </a:solidFill>
                <a:latin typeface="DM Sans"/>
              </a:rPr>
              <a:t>WE TESTED THIS</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Draft to flagship — same set.</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Pick the detail; the method holds. Pieces grow about quadratically.</a:t>
            </a:r>
          </a:p>
        </p:txBody>
      </p:sp>
      <p:sp>
        <p:nvSpPr>
          <p:cNvPr id="6" name="TextBox 5"/>
          <p:cNvSpPr txBox="1"/>
          <p:nvPr/>
        </p:nvSpPr>
        <p:spPr>
          <a:xfrm>
            <a:off x="670543" y="5212080"/>
            <a:ext cx="5608179" cy="274320"/>
          </a:xfrm>
          <a:prstGeom prst="rect">
            <a:avLst/>
          </a:prstGeom>
          <a:noFill/>
        </p:spPr>
        <p:txBody>
          <a:bodyPr wrap="square" tIns="0" bIns="0" lIns="0" rIns="0" anchor="t">
            <a:spAutoFit/>
          </a:bodyPr>
          <a:lstStyle/>
          <a:p>
            <a:pPr algn="l">
              <a:lnSpc>
                <a:spcPct val="130000"/>
              </a:lnSpc>
            </a:pPr>
            <a:r>
              <a:rPr sz="1200" b="0">
                <a:solidFill>
                  <a:srgbClr val="B0A899"/>
                </a:solidFill>
                <a:latin typeface="DM Sans"/>
              </a:rPr>
              <a:t>Sagrada Família at detail 24 · 32 · 48</a:t>
            </a:r>
          </a:p>
        </p:txBody>
      </p:sp>
      <p:sp>
        <p:nvSpPr>
          <p:cNvPr id="7" name="TextBox 6"/>
          <p:cNvSpPr txBox="1"/>
          <p:nvPr/>
        </p:nvSpPr>
        <p:spPr>
          <a:xfrm>
            <a:off x="7071183" y="2551176"/>
            <a:ext cx="2682172" cy="342900"/>
          </a:xfrm>
          <a:prstGeom prst="rect">
            <a:avLst/>
          </a:prstGeom>
          <a:noFill/>
        </p:spPr>
        <p:txBody>
          <a:bodyPr wrap="square" tIns="0" bIns="0" lIns="0" rIns="0" anchor="t">
            <a:spAutoFit/>
          </a:bodyPr>
          <a:lstStyle/>
          <a:p>
            <a:pPr algn="l">
              <a:lnSpc>
                <a:spcPct val="130000"/>
              </a:lnSpc>
            </a:pPr>
            <a:r>
              <a:rPr sz="1700" b="1">
                <a:solidFill>
                  <a:srgbClr val="34302A"/>
                </a:solidFill>
                <a:latin typeface="Nunito"/>
              </a:rPr>
              <a:t>detail 24</a:t>
            </a:r>
          </a:p>
        </p:txBody>
      </p:sp>
      <p:sp>
        <p:nvSpPr>
          <p:cNvPr id="8" name="TextBox 7"/>
          <p:cNvSpPr txBox="1"/>
          <p:nvPr/>
        </p:nvSpPr>
        <p:spPr>
          <a:xfrm>
            <a:off x="7071183" y="2880360"/>
            <a:ext cx="2682172" cy="274320"/>
          </a:xfrm>
          <a:prstGeom prst="rect">
            <a:avLst/>
          </a:prstGeom>
          <a:noFill/>
        </p:spPr>
        <p:txBody>
          <a:bodyPr wrap="square" tIns="0" bIns="0" lIns="0" rIns="0" anchor="t">
            <a:spAutoFit/>
          </a:bodyPr>
          <a:lstStyle/>
          <a:p>
            <a:pPr algn="l">
              <a:lnSpc>
                <a:spcPct val="130000"/>
              </a:lnSpc>
            </a:pPr>
            <a:r>
              <a:rPr sz="1200" b="0">
                <a:solidFill>
                  <a:srgbClr val="6B8E23"/>
                </a:solidFill>
                <a:latin typeface="DM Sans"/>
              </a:rPr>
              <a:t>draft</a:t>
            </a:r>
          </a:p>
        </p:txBody>
      </p:sp>
      <p:sp>
        <p:nvSpPr>
          <p:cNvPr id="9" name="TextBox 8"/>
          <p:cNvSpPr txBox="1"/>
          <p:nvPr/>
        </p:nvSpPr>
        <p:spPr>
          <a:xfrm>
            <a:off x="8838979" y="2510028"/>
            <a:ext cx="2438339" cy="548640"/>
          </a:xfrm>
          <a:prstGeom prst="rect">
            <a:avLst/>
          </a:prstGeom>
          <a:noFill/>
        </p:spPr>
        <p:txBody>
          <a:bodyPr wrap="square" tIns="0" bIns="0" lIns="0" rIns="0" anchor="t">
            <a:spAutoFit/>
          </a:bodyPr>
          <a:lstStyle/>
          <a:p>
            <a:pPr algn="r">
              <a:lnSpc>
                <a:spcPct val="130000"/>
              </a:lnSpc>
            </a:pPr>
            <a:r>
              <a:rPr sz="3000" b="1">
                <a:solidFill>
                  <a:srgbClr val="34302A"/>
                </a:solidFill>
                <a:latin typeface="Nunito"/>
              </a:rPr>
              <a:t>2,189</a:t>
            </a:r>
          </a:p>
        </p:txBody>
      </p:sp>
      <p:sp>
        <p:nvSpPr>
          <p:cNvPr id="10" name="TextBox 9"/>
          <p:cNvSpPr txBox="1"/>
          <p:nvPr/>
        </p:nvSpPr>
        <p:spPr>
          <a:xfrm>
            <a:off x="8838979" y="2948940"/>
            <a:ext cx="2438339" cy="205739"/>
          </a:xfrm>
          <a:prstGeom prst="rect">
            <a:avLst/>
          </a:prstGeom>
          <a:noFill/>
        </p:spPr>
        <p:txBody>
          <a:bodyPr wrap="square" tIns="0" bIns="0" lIns="0" rIns="0" anchor="t">
            <a:spAutoFit/>
          </a:bodyPr>
          <a:lstStyle/>
          <a:p>
            <a:pPr algn="r">
              <a:lnSpc>
                <a:spcPct val="130000"/>
              </a:lnSpc>
            </a:pPr>
            <a:r>
              <a:rPr sz="1100" b="0">
                <a:solidFill>
                  <a:srgbClr val="6F685C"/>
                </a:solidFill>
                <a:latin typeface="DM Sans"/>
              </a:rPr>
              <a:t>pieces</a:t>
            </a:r>
          </a:p>
        </p:txBody>
      </p:sp>
      <p:sp>
        <p:nvSpPr>
          <p:cNvPr id="11" name="TextBox 10"/>
          <p:cNvSpPr txBox="1"/>
          <p:nvPr/>
        </p:nvSpPr>
        <p:spPr>
          <a:xfrm>
            <a:off x="7071183" y="3497580"/>
            <a:ext cx="2682172" cy="342900"/>
          </a:xfrm>
          <a:prstGeom prst="rect">
            <a:avLst/>
          </a:prstGeom>
          <a:noFill/>
        </p:spPr>
        <p:txBody>
          <a:bodyPr wrap="square" tIns="0" bIns="0" lIns="0" rIns="0" anchor="t">
            <a:spAutoFit/>
          </a:bodyPr>
          <a:lstStyle/>
          <a:p>
            <a:pPr algn="l">
              <a:lnSpc>
                <a:spcPct val="130000"/>
              </a:lnSpc>
            </a:pPr>
            <a:r>
              <a:rPr sz="1700" b="1">
                <a:solidFill>
                  <a:srgbClr val="34302A"/>
                </a:solidFill>
                <a:latin typeface="Nunito"/>
              </a:rPr>
              <a:t>detail 32</a:t>
            </a:r>
          </a:p>
        </p:txBody>
      </p:sp>
      <p:sp>
        <p:nvSpPr>
          <p:cNvPr id="12" name="TextBox 11"/>
          <p:cNvSpPr txBox="1"/>
          <p:nvPr/>
        </p:nvSpPr>
        <p:spPr>
          <a:xfrm>
            <a:off x="7071183" y="3826764"/>
            <a:ext cx="2682172" cy="274320"/>
          </a:xfrm>
          <a:prstGeom prst="rect">
            <a:avLst/>
          </a:prstGeom>
          <a:noFill/>
        </p:spPr>
        <p:txBody>
          <a:bodyPr wrap="square" tIns="0" bIns="0" lIns="0" rIns="0" anchor="t">
            <a:spAutoFit/>
          </a:bodyPr>
          <a:lstStyle/>
          <a:p>
            <a:pPr algn="l">
              <a:lnSpc>
                <a:spcPct val="130000"/>
              </a:lnSpc>
            </a:pPr>
            <a:r>
              <a:rPr sz="1200" b="0">
                <a:solidFill>
                  <a:srgbClr val="F6C700"/>
                </a:solidFill>
                <a:latin typeface="DM Sans"/>
              </a:rPr>
              <a:t>default · winner</a:t>
            </a:r>
          </a:p>
        </p:txBody>
      </p:sp>
      <p:sp>
        <p:nvSpPr>
          <p:cNvPr id="13" name="TextBox 12"/>
          <p:cNvSpPr txBox="1"/>
          <p:nvPr/>
        </p:nvSpPr>
        <p:spPr>
          <a:xfrm>
            <a:off x="8838979" y="3456432"/>
            <a:ext cx="2438339" cy="548640"/>
          </a:xfrm>
          <a:prstGeom prst="rect">
            <a:avLst/>
          </a:prstGeom>
          <a:noFill/>
        </p:spPr>
        <p:txBody>
          <a:bodyPr wrap="square" tIns="0" bIns="0" lIns="0" rIns="0" anchor="t">
            <a:spAutoFit/>
          </a:bodyPr>
          <a:lstStyle/>
          <a:p>
            <a:pPr algn="r">
              <a:lnSpc>
                <a:spcPct val="130000"/>
              </a:lnSpc>
            </a:pPr>
            <a:r>
              <a:rPr sz="3000" b="1">
                <a:solidFill>
                  <a:srgbClr val="34302A"/>
                </a:solidFill>
                <a:latin typeface="Nunito"/>
              </a:rPr>
              <a:t>4,682</a:t>
            </a:r>
          </a:p>
        </p:txBody>
      </p:sp>
      <p:sp>
        <p:nvSpPr>
          <p:cNvPr id="14" name="TextBox 13"/>
          <p:cNvSpPr txBox="1"/>
          <p:nvPr/>
        </p:nvSpPr>
        <p:spPr>
          <a:xfrm>
            <a:off x="8838979" y="3895344"/>
            <a:ext cx="2438339" cy="205739"/>
          </a:xfrm>
          <a:prstGeom prst="rect">
            <a:avLst/>
          </a:prstGeom>
          <a:noFill/>
        </p:spPr>
        <p:txBody>
          <a:bodyPr wrap="square" tIns="0" bIns="0" lIns="0" rIns="0" anchor="t">
            <a:spAutoFit/>
          </a:bodyPr>
          <a:lstStyle/>
          <a:p>
            <a:pPr algn="r">
              <a:lnSpc>
                <a:spcPct val="130000"/>
              </a:lnSpc>
            </a:pPr>
            <a:r>
              <a:rPr sz="1100" b="0">
                <a:solidFill>
                  <a:srgbClr val="6F685C"/>
                </a:solidFill>
                <a:latin typeface="DM Sans"/>
              </a:rPr>
              <a:t>pieces</a:t>
            </a:r>
          </a:p>
        </p:txBody>
      </p:sp>
      <p:sp>
        <p:nvSpPr>
          <p:cNvPr id="15" name="TextBox 14"/>
          <p:cNvSpPr txBox="1"/>
          <p:nvPr/>
        </p:nvSpPr>
        <p:spPr>
          <a:xfrm>
            <a:off x="7071183" y="4443983"/>
            <a:ext cx="2682172" cy="342900"/>
          </a:xfrm>
          <a:prstGeom prst="rect">
            <a:avLst/>
          </a:prstGeom>
          <a:noFill/>
        </p:spPr>
        <p:txBody>
          <a:bodyPr wrap="square" tIns="0" bIns="0" lIns="0" rIns="0" anchor="t">
            <a:spAutoFit/>
          </a:bodyPr>
          <a:lstStyle/>
          <a:p>
            <a:pPr algn="l">
              <a:lnSpc>
                <a:spcPct val="130000"/>
              </a:lnSpc>
            </a:pPr>
            <a:r>
              <a:rPr sz="1700" b="1">
                <a:solidFill>
                  <a:srgbClr val="34302A"/>
                </a:solidFill>
                <a:latin typeface="Nunito"/>
              </a:rPr>
              <a:t>detail 48</a:t>
            </a:r>
          </a:p>
        </p:txBody>
      </p:sp>
      <p:sp>
        <p:nvSpPr>
          <p:cNvPr id="16" name="TextBox 15"/>
          <p:cNvSpPr txBox="1"/>
          <p:nvPr/>
        </p:nvSpPr>
        <p:spPr>
          <a:xfrm>
            <a:off x="7071183" y="4773168"/>
            <a:ext cx="2682172" cy="274320"/>
          </a:xfrm>
          <a:prstGeom prst="rect">
            <a:avLst/>
          </a:prstGeom>
          <a:noFill/>
        </p:spPr>
        <p:txBody>
          <a:bodyPr wrap="square" tIns="0" bIns="0" lIns="0" rIns="0" anchor="t">
            <a:spAutoFit/>
          </a:bodyPr>
          <a:lstStyle/>
          <a:p>
            <a:pPr algn="l">
              <a:lnSpc>
                <a:spcPct val="130000"/>
              </a:lnSpc>
            </a:pPr>
            <a:r>
              <a:rPr sz="1200" b="0">
                <a:solidFill>
                  <a:srgbClr val="C91A09"/>
                </a:solidFill>
                <a:latin typeface="DM Sans"/>
              </a:rPr>
              <a:t>large</a:t>
            </a:r>
          </a:p>
        </p:txBody>
      </p:sp>
      <p:sp>
        <p:nvSpPr>
          <p:cNvPr id="17" name="TextBox 16"/>
          <p:cNvSpPr txBox="1"/>
          <p:nvPr/>
        </p:nvSpPr>
        <p:spPr>
          <a:xfrm>
            <a:off x="8838979" y="4402836"/>
            <a:ext cx="2438339" cy="548640"/>
          </a:xfrm>
          <a:prstGeom prst="rect">
            <a:avLst/>
          </a:prstGeom>
          <a:noFill/>
        </p:spPr>
        <p:txBody>
          <a:bodyPr wrap="square" tIns="0" bIns="0" lIns="0" rIns="0" anchor="t">
            <a:spAutoFit/>
          </a:bodyPr>
          <a:lstStyle/>
          <a:p>
            <a:pPr algn="r">
              <a:lnSpc>
                <a:spcPct val="130000"/>
              </a:lnSpc>
            </a:pPr>
            <a:r>
              <a:rPr sz="3000" b="1">
                <a:solidFill>
                  <a:srgbClr val="34302A"/>
                </a:solidFill>
                <a:latin typeface="Nunito"/>
              </a:rPr>
              <a:t>15,089</a:t>
            </a:r>
          </a:p>
        </p:txBody>
      </p:sp>
      <p:sp>
        <p:nvSpPr>
          <p:cNvPr id="18" name="TextBox 17"/>
          <p:cNvSpPr txBox="1"/>
          <p:nvPr/>
        </p:nvSpPr>
        <p:spPr>
          <a:xfrm>
            <a:off x="8838979" y="4841747"/>
            <a:ext cx="2438339" cy="205739"/>
          </a:xfrm>
          <a:prstGeom prst="rect">
            <a:avLst/>
          </a:prstGeom>
          <a:noFill/>
        </p:spPr>
        <p:txBody>
          <a:bodyPr wrap="square" tIns="0" bIns="0" lIns="0" rIns="0" anchor="t">
            <a:spAutoFit/>
          </a:bodyPr>
          <a:lstStyle/>
          <a:p>
            <a:pPr algn="r">
              <a:lnSpc>
                <a:spcPct val="130000"/>
              </a:lnSpc>
            </a:pPr>
            <a:r>
              <a:rPr sz="1100" b="0">
                <a:solidFill>
                  <a:srgbClr val="6F685C"/>
                </a:solidFill>
                <a:latin typeface="DM Sans"/>
              </a:rPr>
              <a:t>pieces</a:t>
            </a:r>
          </a:p>
        </p:txBody>
      </p:sp>
      <p:sp>
        <p:nvSpPr>
          <p:cNvPr id="19" name="TextBox 18"/>
          <p:cNvSpPr txBox="1"/>
          <p:nvPr/>
        </p:nvSpPr>
        <p:spPr>
          <a:xfrm>
            <a:off x="6827349" y="5314950"/>
            <a:ext cx="4693802" cy="274320"/>
          </a:xfrm>
          <a:prstGeom prst="rect">
            <a:avLst/>
          </a:prstGeom>
          <a:noFill/>
        </p:spPr>
        <p:txBody>
          <a:bodyPr wrap="square" tIns="0" bIns="0" lIns="0" rIns="0" anchor="t">
            <a:spAutoFit/>
          </a:bodyPr>
          <a:lstStyle/>
          <a:p>
            <a:pPr algn="l">
              <a:lnSpc>
                <a:spcPct val="130000"/>
              </a:lnSpc>
            </a:pPr>
            <a:r>
              <a:rPr sz="1300" b="0">
                <a:solidFill>
                  <a:srgbClr val="B0A899"/>
                </a:solidFill>
                <a:latin typeface="DM Sans"/>
              </a:rPr>
              <a:t>16–64 studs available in-app · same connected set every time</a:t>
            </a:r>
          </a:p>
        </p:txBody>
      </p:sp>
      <p:sp>
        <p:nvSpPr>
          <p:cNvPr id="20" name="TextBox 19"/>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C91A09"/>
                </a:solidFill>
                <a:latin typeface="DM Sans"/>
              </a:rPr>
              <a:t>THE HONEST PART</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It built Gehry, not the Guggenheim.</a:t>
            </a:r>
          </a:p>
        </p:txBody>
      </p:sp>
      <p:sp>
        <p:nvSpPr>
          <p:cNvPr id="5" name="TextBox 4"/>
          <p:cNvSpPr txBox="1"/>
          <p:nvPr/>
        </p:nvSpPr>
        <p:spPr>
          <a:xfrm>
            <a:off x="670543" y="1611630"/>
            <a:ext cx="10850608" cy="342900"/>
          </a:xfrm>
          <a:prstGeom prst="rect">
            <a:avLst/>
          </a:prstGeom>
          <a:noFill/>
        </p:spPr>
        <p:txBody>
          <a:bodyPr wrap="square" tIns="0" bIns="0" lIns="0" rIns="0" anchor="t">
            <a:spAutoFit/>
          </a:bodyPr>
          <a:lstStyle/>
          <a:p>
            <a:pPr algn="l">
              <a:lnSpc>
                <a:spcPct val="130000"/>
              </a:lnSpc>
            </a:pPr>
            <a:r>
              <a:rPr sz="1600" b="0">
                <a:solidFill>
                  <a:srgbClr val="E7D3A6"/>
                </a:solidFill>
                <a:latin typeface="DM Sans"/>
              </a:rPr>
              <a:t>We named both. The model followed the curves — and voxels can't hold them.</a:t>
            </a:r>
          </a:p>
        </p:txBody>
      </p:sp>
      <p:sp>
        <p:nvSpPr>
          <p:cNvPr id="6" name="TextBox 5"/>
          <p:cNvSpPr txBox="1"/>
          <p:nvPr/>
        </p:nvSpPr>
        <p:spPr>
          <a:xfrm>
            <a:off x="950952" y="2516886"/>
            <a:ext cx="5486262" cy="205739"/>
          </a:xfrm>
          <a:prstGeom prst="rect">
            <a:avLst/>
          </a:prstGeom>
          <a:noFill/>
        </p:spPr>
        <p:txBody>
          <a:bodyPr wrap="square" tIns="0" bIns="0" lIns="0" rIns="0" anchor="t">
            <a:spAutoFit/>
          </a:bodyPr>
          <a:lstStyle/>
          <a:p>
            <a:pPr algn="l">
              <a:lnSpc>
                <a:spcPct val="130000"/>
              </a:lnSpc>
            </a:pPr>
            <a:r>
              <a:rPr sz="1100" b="1">
                <a:solidFill>
                  <a:srgbClr val="C91A09"/>
                </a:solidFill>
                <a:latin typeface="DM Sans"/>
              </a:rPr>
              <a:t>THE PROMPT — VERBATIM</a:t>
            </a:r>
          </a:p>
        </p:txBody>
      </p:sp>
      <p:sp>
        <p:nvSpPr>
          <p:cNvPr id="7" name="TextBox 6"/>
          <p:cNvSpPr txBox="1"/>
          <p:nvPr/>
        </p:nvSpPr>
        <p:spPr>
          <a:xfrm>
            <a:off x="950952" y="2846070"/>
            <a:ext cx="5547221" cy="1371600"/>
          </a:xfrm>
          <a:prstGeom prst="rect">
            <a:avLst/>
          </a:prstGeom>
          <a:noFill/>
        </p:spPr>
        <p:txBody>
          <a:bodyPr wrap="square" tIns="0" bIns="0" lIns="0" rIns="0" anchor="t">
            <a:spAutoFit/>
          </a:bodyPr>
          <a:lstStyle/>
          <a:p>
            <a:pPr algn="l">
              <a:lnSpc>
                <a:spcPct val="150000"/>
              </a:lnSpc>
            </a:pPr>
            <a:r>
              <a:rPr sz="1500" b="0">
                <a:solidFill>
                  <a:srgbClr val="34302A"/>
                </a:solidFill>
                <a:latin typeface="DM Sans"/>
              </a:rPr>
              <a:t>“Guggenheim Museum Bilbao Frank Gehry … interconnected swirling titanium-clad volumes … overlapping curved ship-like masses merging into one continuous sculptural body …”</a:t>
            </a:r>
          </a:p>
        </p:txBody>
      </p:sp>
      <p:sp>
        <p:nvSpPr>
          <p:cNvPr id="8" name="TextBox 7"/>
          <p:cNvSpPr txBox="1"/>
          <p:nvPr/>
        </p:nvSpPr>
        <p:spPr>
          <a:xfrm>
            <a:off x="7315017" y="4320540"/>
            <a:ext cx="4206134" cy="205739"/>
          </a:xfrm>
          <a:prstGeom prst="rect">
            <a:avLst/>
          </a:prstGeom>
          <a:noFill/>
        </p:spPr>
        <p:txBody>
          <a:bodyPr wrap="square" tIns="0" bIns="0" lIns="0" rIns="0" anchor="t">
            <a:spAutoFit/>
          </a:bodyPr>
          <a:lstStyle/>
          <a:p>
            <a:pPr algn="ctr">
              <a:lnSpc>
                <a:spcPct val="130000"/>
              </a:lnSpc>
            </a:pPr>
            <a:r>
              <a:rPr sz="1150" b="0">
                <a:solidFill>
                  <a:srgbClr val="B0A899"/>
                </a:solidFill>
                <a:latin typeface="DM Sans"/>
              </a:rPr>
              <a:t>voxelized Bilbao → a connected metallic blob</a:t>
            </a:r>
          </a:p>
        </p:txBody>
      </p:sp>
      <p:sp>
        <p:nvSpPr>
          <p:cNvPr id="9" name="TextBox 8"/>
          <p:cNvSpPr txBox="1"/>
          <p:nvPr/>
        </p:nvSpPr>
        <p:spPr>
          <a:xfrm>
            <a:off x="950952" y="4752594"/>
            <a:ext cx="10362940" cy="342900"/>
          </a:xfrm>
          <a:prstGeom prst="rect">
            <a:avLst/>
          </a:prstGeom>
          <a:noFill/>
        </p:spPr>
        <p:txBody>
          <a:bodyPr wrap="square" tIns="0" bIns="0" lIns="0" rIns="0" anchor="t">
            <a:spAutoFit/>
          </a:bodyPr>
          <a:lstStyle/>
          <a:p>
            <a:pPr algn="l">
              <a:lnSpc>
                <a:spcPct val="130000"/>
              </a:lnSpc>
            </a:pPr>
            <a:r>
              <a:rPr sz="1700" b="1">
                <a:solidFill>
                  <a:srgbClr val="F3EFE6"/>
                </a:solidFill>
                <a:latin typeface="Nunito"/>
              </a:rPr>
              <a:t>Smooth curves can't survive a voxel grid.</a:t>
            </a:r>
          </a:p>
        </p:txBody>
      </p:sp>
      <p:sp>
        <p:nvSpPr>
          <p:cNvPr id="10" name="TextBox 9"/>
          <p:cNvSpPr txBox="1"/>
          <p:nvPr/>
        </p:nvSpPr>
        <p:spPr>
          <a:xfrm>
            <a:off x="950952" y="5143500"/>
            <a:ext cx="10362940" cy="411479"/>
          </a:xfrm>
          <a:prstGeom prst="rect">
            <a:avLst/>
          </a:prstGeom>
          <a:noFill/>
        </p:spPr>
        <p:txBody>
          <a:bodyPr wrap="square" tIns="0" bIns="0" lIns="0" rIns="0" anchor="t">
            <a:spAutoFit/>
          </a:bodyPr>
          <a:lstStyle/>
          <a:p>
            <a:pPr algn="l">
              <a:lnSpc>
                <a:spcPct val="140000"/>
              </a:lnSpc>
            </a:pPr>
            <a:r>
              <a:rPr sz="1400" b="0">
                <a:solidFill>
                  <a:srgbClr val="B0A899"/>
                </a:solidFill>
                <a:latin typeface="DM Sans"/>
              </a:rPr>
              <a:t>Connected and 93% supported → just not legible. Knowing exactly where the method ends is part of the work.</a:t>
            </a:r>
          </a:p>
        </p:txBody>
      </p:sp>
      <p:sp>
        <p:nvSpPr>
          <p:cNvPr id="11" name="TextBox 10"/>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4.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82594" y="390906"/>
            <a:ext cx="8534186" cy="342900"/>
          </a:xfrm>
          <a:prstGeom prst="rect">
            <a:avLst/>
          </a:prstGeom>
          <a:noFill/>
        </p:spPr>
        <p:txBody>
          <a:bodyPr wrap="square" tIns="0" bIns="0" lIns="0" rIns="0" anchor="t">
            <a:spAutoFit/>
          </a:bodyPr>
          <a:lstStyle/>
          <a:p>
            <a:pPr algn="l">
              <a:lnSpc>
                <a:spcPct val="130000"/>
              </a:lnSpc>
            </a:pPr>
            <a:r>
              <a:rPr sz="1300" b="1">
                <a:solidFill>
                  <a:srgbClr val="E7D3A6"/>
                </a:solidFill>
                <a:latin typeface="DM Sans"/>
              </a:rPr>
              <a:t>INPUTS → OUTPUTS</a:t>
            </a:r>
          </a:p>
        </p:txBody>
      </p:sp>
      <p:sp>
        <p:nvSpPr>
          <p:cNvPr id="4" name="TextBox 3"/>
          <p:cNvSpPr txBox="1"/>
          <p:nvPr/>
        </p:nvSpPr>
        <p:spPr>
          <a:xfrm>
            <a:off x="670543" y="994409"/>
            <a:ext cx="10850608" cy="685800"/>
          </a:xfrm>
          <a:prstGeom prst="rect">
            <a:avLst/>
          </a:prstGeom>
          <a:noFill/>
        </p:spPr>
        <p:txBody>
          <a:bodyPr wrap="square" tIns="0" bIns="0" lIns="0" rIns="0" anchor="t">
            <a:spAutoFit/>
          </a:bodyPr>
          <a:lstStyle/>
          <a:p>
            <a:pPr algn="l">
              <a:lnSpc>
                <a:spcPct val="130000"/>
              </a:lnSpc>
            </a:pPr>
            <a:r>
              <a:rPr sz="3300" b="1">
                <a:solidFill>
                  <a:srgbClr val="F3EFE6"/>
                </a:solidFill>
                <a:latin typeface="Nunito"/>
              </a:rPr>
              <a:t>One sentence → everything you get.</a:t>
            </a:r>
          </a:p>
        </p:txBody>
      </p:sp>
      <p:sp>
        <p:nvSpPr>
          <p:cNvPr id="5" name="TextBox 4"/>
          <p:cNvSpPr txBox="1"/>
          <p:nvPr/>
        </p:nvSpPr>
        <p:spPr>
          <a:xfrm>
            <a:off x="4510927" y="4732020"/>
            <a:ext cx="3169840" cy="274320"/>
          </a:xfrm>
          <a:prstGeom prst="rect">
            <a:avLst/>
          </a:prstGeom>
          <a:noFill/>
        </p:spPr>
        <p:txBody>
          <a:bodyPr wrap="square" tIns="0" bIns="0" lIns="0" rIns="0" anchor="t">
            <a:spAutoFit/>
          </a:bodyPr>
          <a:lstStyle/>
          <a:p>
            <a:pPr algn="ctr">
              <a:lnSpc>
                <a:spcPct val="130000"/>
              </a:lnSpc>
            </a:pPr>
            <a:r>
              <a:rPr sz="1200" b="1">
                <a:solidFill>
                  <a:srgbClr val="1E5AA8"/>
                </a:solidFill>
                <a:latin typeface="DM Sans"/>
              </a:rPr>
              <a:t>NAME A BUILDING</a:t>
            </a:r>
          </a:p>
        </p:txBody>
      </p:sp>
      <p:sp>
        <p:nvSpPr>
          <p:cNvPr id="6" name="TextBox 5"/>
          <p:cNvSpPr txBox="1"/>
          <p:nvPr/>
        </p:nvSpPr>
        <p:spPr>
          <a:xfrm>
            <a:off x="5016882" y="2753486"/>
            <a:ext cx="2157930" cy="205739"/>
          </a:xfrm>
          <a:prstGeom prst="rect">
            <a:avLst/>
          </a:prstGeom>
          <a:noFill/>
        </p:spPr>
        <p:txBody>
          <a:bodyPr wrap="square" tIns="0" bIns="0" lIns="0" rIns="0" anchor="t">
            <a:spAutoFit/>
          </a:bodyPr>
          <a:lstStyle/>
          <a:p>
            <a:pPr algn="ctr">
              <a:lnSpc>
                <a:spcPct val="130000"/>
              </a:lnSpc>
            </a:pPr>
            <a:r>
              <a:rPr sz="1200" b="1">
                <a:solidFill>
                  <a:srgbClr val="34302A"/>
                </a:solidFill>
                <a:latin typeface="Nunito"/>
              </a:rPr>
              <a:t>the render</a:t>
            </a:r>
          </a:p>
        </p:txBody>
      </p:sp>
      <p:sp>
        <p:nvSpPr>
          <p:cNvPr id="7" name="TextBox 6"/>
          <p:cNvSpPr txBox="1"/>
          <p:nvPr/>
        </p:nvSpPr>
        <p:spPr>
          <a:xfrm>
            <a:off x="1532637" y="3576447"/>
            <a:ext cx="2157930" cy="205739"/>
          </a:xfrm>
          <a:prstGeom prst="rect">
            <a:avLst/>
          </a:prstGeom>
          <a:noFill/>
        </p:spPr>
        <p:txBody>
          <a:bodyPr wrap="square" tIns="0" bIns="0" lIns="0" rIns="0" anchor="t">
            <a:spAutoFit/>
          </a:bodyPr>
          <a:lstStyle/>
          <a:p>
            <a:pPr algn="ctr">
              <a:lnSpc>
                <a:spcPct val="130000"/>
              </a:lnSpc>
            </a:pPr>
            <a:r>
              <a:rPr sz="1200" b="1">
                <a:solidFill>
                  <a:srgbClr val="34302A"/>
                </a:solidFill>
                <a:latin typeface="Nunito"/>
              </a:rPr>
              <a:t>the 3D mesh</a:t>
            </a:r>
          </a:p>
        </p:txBody>
      </p:sp>
      <p:sp>
        <p:nvSpPr>
          <p:cNvPr id="8" name="TextBox 7"/>
          <p:cNvSpPr txBox="1"/>
          <p:nvPr/>
        </p:nvSpPr>
        <p:spPr>
          <a:xfrm>
            <a:off x="1532637" y="5222367"/>
            <a:ext cx="2157930" cy="205739"/>
          </a:xfrm>
          <a:prstGeom prst="rect">
            <a:avLst/>
          </a:prstGeom>
          <a:noFill/>
        </p:spPr>
        <p:txBody>
          <a:bodyPr wrap="square" tIns="0" bIns="0" lIns="0" rIns="0" anchor="t">
            <a:spAutoFit/>
          </a:bodyPr>
          <a:lstStyle/>
          <a:p>
            <a:pPr algn="ctr">
              <a:lnSpc>
                <a:spcPct val="130000"/>
              </a:lnSpc>
            </a:pPr>
            <a:r>
              <a:rPr sz="1200" b="1">
                <a:solidFill>
                  <a:srgbClr val="34302A"/>
                </a:solidFill>
                <a:latin typeface="Nunito"/>
              </a:rPr>
              <a:t>the build</a:t>
            </a:r>
          </a:p>
        </p:txBody>
      </p:sp>
      <p:sp>
        <p:nvSpPr>
          <p:cNvPr id="9" name="TextBox 8"/>
          <p:cNvSpPr txBox="1"/>
          <p:nvPr/>
        </p:nvSpPr>
        <p:spPr>
          <a:xfrm>
            <a:off x="5016882" y="6045327"/>
            <a:ext cx="2157930" cy="205739"/>
          </a:xfrm>
          <a:prstGeom prst="rect">
            <a:avLst/>
          </a:prstGeom>
          <a:noFill/>
        </p:spPr>
        <p:txBody>
          <a:bodyPr wrap="square" tIns="0" bIns="0" lIns="0" rIns="0" anchor="t">
            <a:spAutoFit/>
          </a:bodyPr>
          <a:lstStyle/>
          <a:p>
            <a:pPr algn="ctr">
              <a:lnSpc>
                <a:spcPct val="130000"/>
              </a:lnSpc>
            </a:pPr>
            <a:r>
              <a:rPr sz="1200" b="1">
                <a:solidFill>
                  <a:srgbClr val="34302A"/>
                </a:solidFill>
                <a:latin typeface="Nunito"/>
              </a:rPr>
              <a:t>the boxed set</a:t>
            </a:r>
          </a:p>
        </p:txBody>
      </p:sp>
      <p:sp>
        <p:nvSpPr>
          <p:cNvPr id="10" name="TextBox 9"/>
          <p:cNvSpPr txBox="1"/>
          <p:nvPr/>
        </p:nvSpPr>
        <p:spPr>
          <a:xfrm>
            <a:off x="8501127" y="5222367"/>
            <a:ext cx="2157930" cy="205739"/>
          </a:xfrm>
          <a:prstGeom prst="rect">
            <a:avLst/>
          </a:prstGeom>
          <a:noFill/>
        </p:spPr>
        <p:txBody>
          <a:bodyPr wrap="square" tIns="0" bIns="0" lIns="0" rIns="0" anchor="t">
            <a:spAutoFit/>
          </a:bodyPr>
          <a:lstStyle/>
          <a:p>
            <a:pPr algn="ctr">
              <a:lnSpc>
                <a:spcPct val="130000"/>
              </a:lnSpc>
            </a:pPr>
            <a:r>
              <a:rPr sz="1200" b="1">
                <a:solidFill>
                  <a:srgbClr val="34302A"/>
                </a:solidFill>
                <a:latin typeface="Nunito"/>
              </a:rPr>
              <a:t>the booklet</a:t>
            </a:r>
          </a:p>
        </p:txBody>
      </p:sp>
      <p:sp>
        <p:nvSpPr>
          <p:cNvPr id="11" name="TextBox 10"/>
          <p:cNvSpPr txBox="1"/>
          <p:nvPr/>
        </p:nvSpPr>
        <p:spPr>
          <a:xfrm>
            <a:off x="8501127" y="3576447"/>
            <a:ext cx="2157930" cy="205739"/>
          </a:xfrm>
          <a:prstGeom prst="rect">
            <a:avLst/>
          </a:prstGeom>
          <a:noFill/>
        </p:spPr>
        <p:txBody>
          <a:bodyPr wrap="square" tIns="0" bIns="0" lIns="0" rIns="0" anchor="t">
            <a:spAutoFit/>
          </a:bodyPr>
          <a:lstStyle/>
          <a:p>
            <a:pPr algn="ctr">
              <a:lnSpc>
                <a:spcPct val="130000"/>
              </a:lnSpc>
            </a:pPr>
            <a:r>
              <a:rPr sz="1200" b="1">
                <a:solidFill>
                  <a:srgbClr val="34302A"/>
                </a:solidFill>
                <a:latin typeface="Nunito"/>
              </a:rPr>
              <a:t>parts + price</a:t>
            </a:r>
          </a:p>
        </p:txBody>
      </p:sp>
      <p:sp>
        <p:nvSpPr>
          <p:cNvPr id="12" name="TextBox 11"/>
          <p:cNvSpPr txBox="1"/>
          <p:nvPr/>
        </p:nvSpPr>
        <p:spPr>
          <a:xfrm>
            <a:off x="9753356" y="6528816"/>
            <a:ext cx="1767795" cy="274320"/>
          </a:xfrm>
          <a:prstGeom prst="rect">
            <a:avLst/>
          </a:prstGeom>
          <a:noFill/>
        </p:spPr>
        <p:txBody>
          <a:bodyPr wrap="square" tIns="0" bIns="0" lIns="0" rIns="0" anchor="t">
            <a:spAutoFit/>
          </a:bodyPr>
          <a:lstStyle/>
          <a:p>
            <a:pPr algn="r">
              <a:lnSpc>
                <a:spcPct val="130000"/>
              </a:lnSpc>
            </a:pPr>
            <a:r>
              <a:rPr sz="1000" b="0">
                <a:solidFill>
                  <a:srgbClr val="B0A899"/>
                </a:solidFill>
                <a:latin typeface="DM Sans"/>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5.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70543" y="3154680"/>
            <a:ext cx="10850608" cy="685800"/>
          </a:xfrm>
          <a:prstGeom prst="rect">
            <a:avLst/>
          </a:prstGeom>
          <a:noFill/>
        </p:spPr>
        <p:txBody>
          <a:bodyPr wrap="square" tIns="0" bIns="0" lIns="0" rIns="0" anchor="t">
            <a:spAutoFit/>
          </a:bodyPr>
          <a:lstStyle/>
          <a:p>
            <a:pPr algn="ctr">
              <a:lnSpc>
                <a:spcPct val="130000"/>
              </a:lnSpc>
            </a:pPr>
            <a:r>
              <a:rPr sz="5400" b="1">
                <a:solidFill>
                  <a:srgbClr val="F3EFE6"/>
                </a:solidFill>
                <a:latin typeface="Nunito"/>
              </a:rPr>
              <a:t>From words to LEGO.</a:t>
            </a:r>
          </a:p>
        </p:txBody>
      </p:sp>
      <p:sp>
        <p:nvSpPr>
          <p:cNvPr id="4" name="TextBox 3"/>
          <p:cNvSpPr txBox="1"/>
          <p:nvPr/>
        </p:nvSpPr>
        <p:spPr>
          <a:xfrm>
            <a:off x="670543" y="4183380"/>
            <a:ext cx="10850608" cy="342900"/>
          </a:xfrm>
          <a:prstGeom prst="rect">
            <a:avLst/>
          </a:prstGeom>
          <a:noFill/>
        </p:spPr>
        <p:txBody>
          <a:bodyPr wrap="square" tIns="0" bIns="0" lIns="0" rIns="0" anchor="t">
            <a:spAutoFit/>
          </a:bodyPr>
          <a:lstStyle/>
          <a:p>
            <a:pPr algn="ctr">
              <a:lnSpc>
                <a:spcPct val="130000"/>
              </a:lnSpc>
            </a:pPr>
            <a:r>
              <a:rPr sz="1800" b="0">
                <a:solidFill>
                  <a:srgbClr val="E7D3A6"/>
                </a:solidFill>
                <a:latin typeface="DM Sans"/>
              </a:rPr>
              <a:t>Generative AI proposes → code proves → the catalog ships.</a:t>
            </a:r>
          </a:p>
        </p:txBody>
      </p:sp>
      <p:sp>
        <p:nvSpPr>
          <p:cNvPr id="5" name="TextBox 4"/>
          <p:cNvSpPr txBox="1"/>
          <p:nvPr/>
        </p:nvSpPr>
        <p:spPr>
          <a:xfrm>
            <a:off x="670543" y="5349240"/>
            <a:ext cx="10850608" cy="342900"/>
          </a:xfrm>
          <a:prstGeom prst="rect">
            <a:avLst/>
          </a:prstGeom>
          <a:noFill/>
        </p:spPr>
        <p:txBody>
          <a:bodyPr wrap="square" tIns="0" bIns="0" lIns="0" rIns="0" anchor="t">
            <a:spAutoFit/>
          </a:bodyPr>
          <a:lstStyle/>
          <a:p>
            <a:pPr algn="ctr">
              <a:lnSpc>
                <a:spcPct val="130000"/>
              </a:lnSpc>
            </a:pPr>
            <a:r>
              <a:rPr sz="1400" b="0">
                <a:solidFill>
                  <a:srgbClr val="B0A899"/>
                </a:solidFill>
                <a:latin typeface="DM Sans"/>
              </a:rPr>
              <a:t>Emilie El Chidiac &amp; Charles Abi Chahine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