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 open is LIVE (no slide). This title holds at the very top/tail. Emilie: 'Watch this — I'll name a building, and we build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Charles: prompt -&gt; FLUX render -&gt; TRELLIS 3D -&gt; voxelize + colour-match -&gt; brick solve. Generative up front, plain deterministic code at the back. That back half is the part we're proud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Charles, conversational: we had to tune this by hand. 28 steps, guidance 5, LoRA at full, negative prompt on. Below 0.75 the studs fade — that's where the LEGO-ness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Charles: the 3D model bakes in colour speckle, and each speck would force its own brick. We blur it onto the render's true colour first — 19 to 46 percent fewer pieces, and nothing gets wobblier.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Charles, humble: this is the honest part. Gehry's curves are too smooth for a voxel grid, so Bilbao builds as a blob. It stands up fine — it's just not legible. Knowing the limit is part of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Charles: same prompt, a different seed -&gt; a different generation but the same outcome: a connected buildable set. Determinism, in a field built on randomness. Honestly, that surprised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Charles: every piece is a real BrickLink part — 48 colours, 44 parts, 1,598 validated combinations, CIEDE2000-matched. And one model scales from a 2k draft to a 22k flagship.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Both. Charles: 'From a sentence—' Emilie: '—to a set you can build.' Emilie: the 3D model, the build, a boxed set, an instruction booklet, a real parts list with a price. An architect's idea becomes a box on your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card under the final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7118" y="4320540"/>
            <a:ext cx="9753356" cy="5486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>
                <a:solidFill>
                  <a:srgbClr val="E4CD9E"/>
                </a:solidFill>
                <a:latin typeface="Inter"/>
              </a:rPr>
              <a:t>Name a building. Get a buildable LEGO set.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18" y="5006340"/>
            <a:ext cx="10241023" cy="41147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AAB1A6"/>
                </a:solidFill>
                <a:latin typeface="Inter"/>
              </a:rPr>
              <a:t>Generative AI proposes the form · deterministic computation proves it's buildable.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7118" y="6172200"/>
            <a:ext cx="10850608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AAB1A6"/>
                </a:solidFill>
                <a:latin typeface="Inter"/>
              </a:rPr>
              <a:t>Generative AI · final presentation · Emilie Chidiac &amp; Charles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27" y="356615"/>
            <a:ext cx="8534186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6C700"/>
                </a:solidFill>
                <a:latin typeface="Inter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43" y="925830"/>
            <a:ext cx="10850608" cy="82295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F4F5F2"/>
                </a:solidFill>
                <a:latin typeface="Archivo"/>
              </a:rPr>
              <a:t>Three steps. One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1680210"/>
            <a:ext cx="10850608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E4CD9E"/>
                </a:solidFill>
                <a:latin typeface="Inter"/>
              </a:rPr>
              <a:t>A model proposes the shape; plain code proves you can actually build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6843" y="3840480"/>
            <a:ext cx="1633687" cy="41147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3271F"/>
                </a:solidFill>
                <a:latin typeface="Archivo"/>
              </a:rP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6843" y="4286250"/>
            <a:ext cx="1633687" cy="4800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B625A"/>
                </a:solidFill>
                <a:latin typeface="Inter"/>
              </a:rPr>
              <a:t>you name a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7923" y="3840480"/>
            <a:ext cx="1633687" cy="41147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3271F"/>
                </a:solidFill>
                <a:latin typeface="Archivo"/>
              </a:rPr>
              <a:t>FLUX render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7923" y="4286250"/>
            <a:ext cx="1633687" cy="4800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B625A"/>
                </a:solidFill>
                <a:latin typeface="Inter"/>
              </a:rPr>
              <a:t>image, LEGO style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9004" y="3840480"/>
            <a:ext cx="1633687" cy="41147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3271F"/>
                </a:solidFill>
                <a:latin typeface="Archivo"/>
              </a:rPr>
              <a:t>TRELLIS 3D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9004" y="4286250"/>
            <a:ext cx="1633687" cy="4800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B625A"/>
                </a:solidFill>
                <a:latin typeface="Inter"/>
              </a:rPr>
              <a:t>rebuild hidden sides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0084" y="3840480"/>
            <a:ext cx="1633687" cy="41147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3271F"/>
                </a:solidFill>
                <a:latin typeface="Archivo"/>
              </a:rPr>
              <a:t>voxelize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10084" y="4286250"/>
            <a:ext cx="1633687" cy="4800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B625A"/>
                </a:solidFill>
                <a:latin typeface="Inter"/>
              </a:rPr>
              <a:t>grid · colour-match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41164" y="3840480"/>
            <a:ext cx="1633687" cy="41147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3271F"/>
                </a:solidFill>
                <a:latin typeface="Archivo"/>
              </a:rPr>
              <a:t>brick solve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41164" y="4286250"/>
            <a:ext cx="1633687" cy="48006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B625A"/>
                </a:solidFill>
                <a:latin typeface="Inter"/>
              </a:rPr>
              <a:t>real parts · stability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543" y="5212080"/>
            <a:ext cx="10850608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AB1A6"/>
                </a:solidFill>
                <a:latin typeface="Inter"/>
              </a:rPr>
              <a:t>blue = generative   ·   yellow = deterministic compute   ·   red = the real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323076"/>
            <a:ext cx="438901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Generative AI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356" y="6323076"/>
            <a:ext cx="17677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27" y="356615"/>
            <a:ext cx="8534186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6C700"/>
                </a:solidFill>
                <a:latin typeface="Inter"/>
              </a:rPr>
              <a:t>WE TUNED THIS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43" y="925830"/>
            <a:ext cx="10850608" cy="82295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F4F5F2"/>
                </a:solidFill>
                <a:latin typeface="Archivo"/>
              </a:rPr>
              <a:t>Getting the render right.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5897880"/>
            <a:ext cx="5608179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AB1A6"/>
                </a:solidFill>
                <a:latin typeface="Inter"/>
              </a:rPr>
              <a:t>same three buildings, one setting swept at a time — winner ringed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73368" y="2318004"/>
            <a:ext cx="1365469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C39E00"/>
                </a:solidFill>
                <a:latin typeface="Inter"/>
              </a:rPr>
              <a:t>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368" y="2537460"/>
            <a:ext cx="1365469" cy="54863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23271F"/>
                </a:solidFill>
                <a:latin typeface="Archivo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4039" y="2318004"/>
            <a:ext cx="1365469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C39E00"/>
                </a:solidFill>
                <a:latin typeface="Inter"/>
              </a:rPr>
              <a:t>GUIDANCE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4039" y="2537460"/>
            <a:ext cx="1365469" cy="54863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23271F"/>
                </a:solidFill>
                <a:latin typeface="Archivo"/>
              </a:rPr>
              <a:t>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3368" y="3552444"/>
            <a:ext cx="1365469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C39E00"/>
                </a:solidFill>
                <a:latin typeface="Inter"/>
              </a:rPr>
              <a:t>LORA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368" y="3771900"/>
            <a:ext cx="1365469" cy="54863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23271F"/>
                </a:solidFill>
                <a:latin typeface="Archivo"/>
              </a:rPr>
              <a:t>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4039" y="3552444"/>
            <a:ext cx="1365469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C39E00"/>
                </a:solidFill>
                <a:latin typeface="Inter"/>
              </a:rPr>
              <a:t>NEGATIVE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4039" y="3771900"/>
            <a:ext cx="1365469" cy="54863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23271F"/>
                </a:solidFill>
                <a:latin typeface="Archivo"/>
              </a:rPr>
              <a:t>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432" y="4594860"/>
            <a:ext cx="4754761" cy="10972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E4CD9E"/>
                </a:solidFill>
                <a:latin typeface="Inter"/>
              </a:rPr>
              <a:t>Turn the LoRA down and the studs literally fade away — that's where the LEGO look lives. The prompt itself is an 8-part grammar that keeps the shape fused so it survives the 3D step.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7" y="6323076"/>
            <a:ext cx="438901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Generative AI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3356" y="6323076"/>
            <a:ext cx="17677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27" y="356615"/>
            <a:ext cx="8534186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6C700"/>
                </a:solidFill>
                <a:latin typeface="Inter"/>
              </a:rPr>
              <a:t>A CLEANUP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43" y="925830"/>
            <a:ext cx="10850608" cy="82295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F4F5F2"/>
                </a:solidFill>
                <a:latin typeface="Archivo"/>
              </a:rPr>
              <a:t>Fewer bricks, same building.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18" y="4869179"/>
            <a:ext cx="2560255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AAB1A6"/>
                </a:solidFill>
                <a:latin typeface="Inter"/>
              </a:rPr>
              <a:t>every speck = its own 1×1 brick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511" y="3771900"/>
            <a:ext cx="2438339" cy="41147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5B625A"/>
                </a:solidFill>
                <a:latin typeface="Inter"/>
              </a:rPr>
              <a:t>merged onto the true colour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518" y="2125980"/>
            <a:ext cx="3657508" cy="30860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E4CD9E"/>
                </a:solidFill>
                <a:latin typeface="Inter"/>
              </a:rPr>
              <a:t>up 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48985" y="2400300"/>
            <a:ext cx="3779425" cy="89154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800" b="1">
                <a:solidFill>
                  <a:srgbClr val="F6C700"/>
                </a:solidFill>
                <a:latin typeface="Archivo"/>
              </a:rPr>
              <a:t>−46%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518" y="3463290"/>
            <a:ext cx="3657508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E4CD9E"/>
                </a:solidFill>
                <a:latin typeface="Inter"/>
              </a:rPr>
              <a:t>fewer pieces  ·  −19% on La Muralla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7202" y="4135374"/>
            <a:ext cx="3133265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C39E00"/>
                </a:solidFill>
                <a:latin typeface="Inter"/>
              </a:rPr>
              <a:t>WHY FEWER IS GOOD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7202" y="4354830"/>
            <a:ext cx="3133265" cy="51434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3271F"/>
                </a:solidFill>
                <a:latin typeface="Inter"/>
              </a:rPr>
              <a:t>cheaper · simpler to build · no loss of stability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6323076"/>
            <a:ext cx="438901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Generative AI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356" y="6323076"/>
            <a:ext cx="17677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27" y="356615"/>
            <a:ext cx="8534186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6C700"/>
                </a:solidFill>
                <a:latin typeface="Inter"/>
              </a:rPr>
              <a:t>WHERE IT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43" y="925830"/>
            <a:ext cx="10850608" cy="82295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F4F5F2"/>
                </a:solidFill>
                <a:latin typeface="Archivo"/>
              </a:rPr>
              <a:t>And here's where it falls apart.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3806190"/>
            <a:ext cx="2743131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625A"/>
                </a:solidFill>
                <a:latin typeface="Inter"/>
              </a:rPr>
              <a:t>smooth Gehry curves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259" y="3806190"/>
            <a:ext cx="2743131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625A"/>
                </a:solidFill>
                <a:latin typeface="Inter"/>
              </a:rPr>
              <a:t>forced onto a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75975" y="3806190"/>
            <a:ext cx="2743131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625A"/>
                </a:solidFill>
                <a:latin typeface="Inter"/>
              </a:rPr>
              <a:t>a blob — not Bilbao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377" y="4732020"/>
            <a:ext cx="10362940" cy="41147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F4F5F2"/>
                </a:solidFill>
                <a:latin typeface="Inter"/>
              </a:rPr>
              <a:t>Still structurally sound — connected, 93% supported. It just isn't legible.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5177790"/>
            <a:ext cx="10362940" cy="41147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AAB1A6"/>
                </a:solidFill>
                <a:latin typeface="Inter"/>
              </a:rPr>
              <a:t>Voxels can't hold a curve. We like that we know exactly where the method ends.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6323076"/>
            <a:ext cx="438901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Generative AI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6" y="6323076"/>
            <a:ext cx="17677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27" y="356615"/>
            <a:ext cx="8534186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6C700"/>
                </a:solidFill>
                <a:latin typeface="Inter"/>
              </a:rPr>
              <a:t>THIS 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43" y="925830"/>
            <a:ext cx="10850608" cy="82295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F4F5F2"/>
                </a:solidFill>
                <a:latin typeface="Archivo"/>
              </a:rPr>
              <a:t>Same prompt, same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50671" y="2571750"/>
            <a:ext cx="2194505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3271F"/>
                </a:solidFill>
                <a:latin typeface="Archivo"/>
              </a:rPr>
              <a:t>seed 1001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54058" y="2571750"/>
            <a:ext cx="2194505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23271F"/>
                </a:solidFill>
                <a:latin typeface="Archivo"/>
              </a:rPr>
              <a:t>seed 2002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84857" y="2743200"/>
            <a:ext cx="1097252" cy="13716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6C700"/>
                </a:solidFill>
                <a:latin typeface="Inter"/>
              </a:rPr>
              <a:t>same buildable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43" y="4800600"/>
            <a:ext cx="10850608" cy="6858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E4CD9E"/>
                </a:solidFill>
                <a:latin typeface="Inter"/>
              </a:rPr>
              <a:t>A new seed is a different generation — the pieces vary — but it's always a single, connected, recognizable set. The result is the method, not a lucky seed.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6323076"/>
            <a:ext cx="438901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Generative AI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6" y="6323076"/>
            <a:ext cx="17677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27" y="356615"/>
            <a:ext cx="8534186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6C700"/>
                </a:solidFill>
                <a:latin typeface="Inter"/>
              </a:rPr>
              <a:t>BUILDABLE MEANS ORDERABLE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43" y="925830"/>
            <a:ext cx="10850608" cy="82295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F4F5F2"/>
                </a:solidFill>
                <a:latin typeface="Archivo"/>
              </a:rPr>
              <a:t>Real parts. Three sizes.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5212080"/>
            <a:ext cx="3657508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E4CD9E"/>
                </a:solidFill>
                <a:latin typeface="Inter"/>
              </a:rPr>
              <a:t>48 LEGO colours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47361" y="2523744"/>
            <a:ext cx="2767514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C39E00"/>
                </a:solidFill>
                <a:latin typeface="Inter"/>
              </a:rPr>
              <a:t>REAL PARTS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47361" y="2743200"/>
            <a:ext cx="2767514" cy="7543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>
                <a:solidFill>
                  <a:srgbClr val="23271F"/>
                </a:solidFill>
                <a:latin typeface="Archivo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7361" y="3963924"/>
            <a:ext cx="2767514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C39E00"/>
                </a:solidFill>
                <a:latin typeface="Inter"/>
              </a:rPr>
              <a:t>VALIDATED COMBOS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7361" y="4183380"/>
            <a:ext cx="2767514" cy="54863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23271F"/>
                </a:solidFill>
                <a:latin typeface="Archivo"/>
              </a:rPr>
              <a:t>1,598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56103" y="3874770"/>
            <a:ext cx="731501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>
                <a:solidFill>
                  <a:srgbClr val="5B625A"/>
                </a:solidFill>
                <a:latin typeface="Inter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70480" y="3874770"/>
            <a:ext cx="731501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>
                <a:solidFill>
                  <a:srgbClr val="5B625A"/>
                </a:solidFill>
                <a:latin typeface="Inter"/>
              </a:rPr>
              <a:t>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84857" y="3874770"/>
            <a:ext cx="731501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>
                <a:solidFill>
                  <a:srgbClr val="5B625A"/>
                </a:solidFill>
                <a:latin typeface="Inter"/>
              </a:rPr>
              <a:t>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311" y="4183380"/>
            <a:ext cx="3169840" cy="41147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5B625A"/>
                </a:solidFill>
                <a:latin typeface="Inter"/>
              </a:rPr>
              <a:t>≈ 2k draft · 4.7k set · 22k flagship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311" y="2057400"/>
            <a:ext cx="316984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AB1A6"/>
                </a:solidFill>
                <a:latin typeface="Inter"/>
              </a:rPr>
              <a:t>one model · three sizes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7" y="6323076"/>
            <a:ext cx="438901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Generative AI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3356" y="6323076"/>
            <a:ext cx="17677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27" y="356615"/>
            <a:ext cx="8534186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6C700"/>
                </a:solidFill>
                <a:latin typeface="Inter"/>
              </a:rPr>
              <a:t>FROM A SENTENCE TO A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43" y="925830"/>
            <a:ext cx="10850608" cy="82295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000" b="1">
                <a:solidFill>
                  <a:srgbClr val="F4F5F2"/>
                </a:solidFill>
                <a:latin typeface="Archivo"/>
              </a:rPr>
              <a:t>Everything you get.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26" y="3291840"/>
            <a:ext cx="3108882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23271F"/>
                </a:solidFill>
                <a:latin typeface="Archivo"/>
              </a:rPr>
              <a:t>3D mesh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17023" y="3291840"/>
            <a:ext cx="3108882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23271F"/>
                </a:solidFill>
                <a:latin typeface="Archivo"/>
              </a:rPr>
              <a:t>legolized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2819" y="2194560"/>
            <a:ext cx="3108882" cy="20573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0978C"/>
                </a:solidFill>
                <a:latin typeface="Inter"/>
              </a:rPr>
              <a:t>add screenshot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2819" y="3291840"/>
            <a:ext cx="3108882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23271F"/>
                </a:solidFill>
                <a:latin typeface="Archivo"/>
              </a:rPr>
              <a:t>the boxed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26" y="3943350"/>
            <a:ext cx="3108882" cy="20573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0978C"/>
                </a:solidFill>
                <a:latin typeface="Inter"/>
              </a:rPr>
              <a:t>add screenshot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26" y="5040629"/>
            <a:ext cx="3108882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23271F"/>
                </a:solidFill>
                <a:latin typeface="Archivo"/>
              </a:rPr>
              <a:t>instruction booklet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023" y="3943350"/>
            <a:ext cx="3108882" cy="20573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0978C"/>
                </a:solidFill>
                <a:latin typeface="Inter"/>
              </a:rPr>
              <a:t>add screenshot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023" y="5040629"/>
            <a:ext cx="3108882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23271F"/>
                </a:solidFill>
                <a:latin typeface="Archivo"/>
              </a:rPr>
              <a:t>parts list + 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2819" y="3943350"/>
            <a:ext cx="3108882" cy="20573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0978C"/>
                </a:solidFill>
                <a:latin typeface="Inter"/>
              </a:rPr>
              <a:t>add screenshot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2819" y="5040629"/>
            <a:ext cx="3108882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23271F"/>
                </a:solidFill>
                <a:latin typeface="Archivo"/>
              </a:rPr>
              <a:t>your shelf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7" y="6323076"/>
            <a:ext cx="4389010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Generative AI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3356" y="6323076"/>
            <a:ext cx="1767795" cy="27432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>
                <a:solidFill>
                  <a:srgbClr val="AAB1A6"/>
                </a:solidFill>
                <a:latin typeface="Inter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43" y="4286250"/>
            <a:ext cx="10850608" cy="411479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E4CD9E"/>
                </a:solidFill>
                <a:latin typeface="Inter"/>
              </a:rPr>
              <a:t>From a sentence to a set you can build.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43" y="4869179"/>
            <a:ext cx="10850608" cy="34290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AAB1A6"/>
                </a:solidFill>
                <a:latin typeface="Inter"/>
              </a:rPr>
              <a:t>Emilie Chidiac · Charles · Generative AI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